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ee258fe-8d62-a1b5-762e-6408d293564b}">
          <p14:sldIdLst>
            <p14:sldId id="256"/>
            <p14:sldId id="257"/>
          </p14:sldIdLst>
        </p14:section>
        <p14:section name="Build" id="{476c5d37-b35e-69e1-4555-c3abcab68f6b}">
          <p14:sldIdLst>
            <p14:sldId id="258"/>
            <p14:sldId id="259"/>
            <p14:sldId id="260"/>
            <p14:sldId id="261"/>
          </p14:sldIdLst>
        </p14:section>
        <p14:section name="Ship" id="{491ec140-d5f8-30e1-33bc-9b0e9bafebc1}">
          <p14:sldIdLst>
            <p14:sldId id="262"/>
            <p14:sldId id="263"/>
            <p14:sldId id="264"/>
          </p14:sldIdLst>
        </p14:section>
        <p14:section name="Cloud" id="{02e176c3-6ba9-2aec-9f90-5c9946001a75}">
          <p14:sldIdLst>
            <p14:sldId id="265"/>
            <p14:sldId id="266"/>
            <p14:sldId id="267"/>
            <p14:sldId id="268"/>
          </p14:sldIdLst>
        </p14:section>
        <p14:section name="Observe" id="{f5d0fa32-16be-d047-a510-85336f8d0282}">
          <p14:sldIdLst>
            <p14:sldId id="269"/>
            <p14:sldId id="270"/>
          </p14:sldIdLst>
        </p14:section>
        <p14:section name="Wrap-up" id="{e04d5132-c49b-fb39-4f2b-cdfb79efe60c}">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 am Pratham. This is my DevOps capstone: BugTrack, a small app for tracking bugs until they are fixed. The app is simple on purpose. The real project is everything around it: tests, containers, CI/CD, security scanning, Terraform on AWS, Kubernetes with Helm,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BugTrack tracks a bug through four statuses: open, investigating, resolved and closed. Every change I make follows the same path: code, a GitHub Actions pipeline that tests, builds and scans, SHA-tagged images in GHCR, Terraform for the AWS network and cluster, Helm to release on Kubernetes, and Prometheus with Grafana to watch it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FastAPI with SQLAlchemy and an Alembic migration that creates the bugs table in PostgreSQL. It has create, read, update and delete endpoints plus a stats endpoint, and health, ready and metrics endpoints for Kubernetes and Prometheus. The React dashboard shows counts, status filters and an add and edit form, and it reflows to phone width, as you can see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wrote 16 pytest tests. They cover every endpoint, bad input, missing ids, the metrics endpoint, and the case where the database is down and ready must return 503. The tests use an in-memory SQLite database through a dependency override, so they never touch the real Postgres. Settings are in pytest.ini.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work in small commits and write what each one adds in the message. The gitignore keeps env files, caches, node modules, the virtual environment and the Terraform state out of the repo. Only an example env file is committed, and there are no keys or passwords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images run as a normal user, not root. The backend uses python 3.12 slim and runs as user 10001. The frontend has two stages: Node builds the React app and only the built files go into the nginx unprivileged image, which runs as user 101. With Docker Compose the whole stack starts with one command, and the migration runs before the API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workflow runs on every push to main and on pull requests. Pytest and the frontend build run first. If both pass, the image job builds the backend and frontend images, scans each with Trivy, and on main pushes them to GHCR tagged with the commit SHA. A failing test or a fixable high or critical CVE stops the pipeline. The deploy job runs helm upgrade with the SHA on a self-hosted runner, and I switch it on with a repository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passing run of the pipeline on my repository: tests, the frontend build, and both image builds with Trivy all passed. The deploy job shows as skipped because I have not switched it on. Both images are public in GHCR and carry the commit SHA as their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scans both images in the pipeline. It checks the operating system packages of each image and, for the backend, the Python packages. Both scans came back with zero vulnerabilities, so the job passed and the images were pushed. The job is set to fail on a fixable high or critical finding, so a bad image never reaches GHCR. A clean scan only means nothing fixable was known that day, which is why it runs on every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terraform folder I describe the AWS setup: a VPC with two public subnets in two availability zones, and an EKS 1.35 cluster with a managed node group of two t3.small nodes in ap-south-1. Only my IP can reach the cluster API, and that value lives in terraform.tfvars, which is not committed. The plan wanted to create 49 resources, apply created all of them, and destroy removed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terraform apply I checked everything in the AWS Console: the VPC with its two subnets, the cluster in Active state, and the two nodes in Ready state. EKS bills by the hour, so right after the screenshots I ran terraform destroy. It removed all 49 resources, and I checked that no cluster or VPC was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packed the app into a Helm chart. It creates the backend and frontend with two replicas each, ClusterIP services, Postgres, a Job that runs the migration, an HPA for the backend, and an Ingress that sends slash to the frontend and slash api to the backend. To keep the AWS bill low I ran the chart on a local cluster, using the images the pipeline pushed.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opens through the nginx Ingress: slash goes to the frontend and slash api to the backend, which talks to Postgres. When I ran the load test, CPU went above the 60 percent target and the HPA added a third backend pod.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slash metrics with request counts and latency histograms. A ServiceMonitor in my chart tells Prometheus to scrape the backend pods, and the targets page shows all of them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made a small Grafana dashboard with four panels: requests per second by route, p95 latency, error responses, and the number of backend pods. The dashboard shows three pods because the HPA had just scaled out. The error panel stays at zero because the load test only asks for bugs that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broke two things on purpose to practise finding problems. First, a wrong image tag, which gives ErrImagePull and then ImagePullBackOff. Second, a Service whose selector does not match the pod labels, so it has no endpoints. For each one I followed the same steps: identify, investigate, root cause, fix,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demo I change a visible string in the frontend, commit and push. GitHub Actions runs the tests, builds the images, scans them and pushes them to GHCR with the commit SHA. Then helm upgrade runs with that SHA, and when I refresh the browser the new text 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stayed with me. A build that passes can still be insecure, which is why Trivy gates the push. nginx looks up the backend name only once, so it needs the full service DNS name. A pod can be Running but not Ready until it reaches the database. And secrets are generated at deploy time and never committed.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023360" cy="109728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548640" y="2606040"/>
            <a:ext cx="3840480" cy="1005840"/>
          </a:xfrm>
          <a:prstGeom prst="rect">
            <a:avLst/>
          </a:prstGeom>
          <a:noFill/>
          <a:ln/>
        </p:spPr>
        <p:txBody>
          <a:bodyPr wrap="square" rtlCol="0"/>
          <a:lstStyle>
            <a:lvl1pPr algn="l" indent="0" marL="0">
              <a:buNone/>
              <a:defRPr lang="en-US" sz="2000" dirty="0">
                <a:solidFill>
                  <a:srgbClr val="A9C2B3"/>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704088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txBox="1"/>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rgbClr val="5C6B64"/>
                </a:solidFill>
              </a:rPr>
              <a:t>BugTrack  |  DevOps Capstone</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3.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1051560"/>
            <a:ext cx="4023360" cy="274320"/>
          </a:xfrm>
          <a:prstGeom prst="rect">
            <a:avLst/>
          </a:prstGeom>
          <a:noFill/>
          <a:ln/>
        </p:spPr>
        <p:txBody>
          <a:bodyPr wrap="square" lIns="0" tIns="0" rIns="0" bIns="0" rtlCol="0" anchor="ctr"/>
          <a:lstStyle/>
          <a:p>
            <a:pPr indent="0" marL="0">
              <a:buNone/>
            </a:pPr>
            <a:r>
              <a:rPr lang="en-US" sz="1200" b="1" spc="400" kern="0" dirty="0">
                <a:solidFill>
                  <a:schemeClr val="accent2"/>
                </a:solidFill>
              </a:rPr>
              <a:t>DEVOPS FINAL CAPSTONE</a:t>
            </a:r>
            <a:endParaRPr lang="en-US" sz="1200" dirty="0"/>
          </a:p>
        </p:txBody>
      </p:sp>
      <p:sp>
        <p:nvSpPr>
          <p:cNvPr id="3" name="Text 0"/>
          <p:cNvSpPr/>
          <p:nvPr>
            <p:ph idx="100" type="title" hasCustomPrompt="1"/>
          </p:nvPr>
        </p:nvSpPr>
        <p:spPr>
          <a:xfrm>
            <a:off x="548640" y="1417320"/>
            <a:ext cx="4023360" cy="1097280"/>
          </a:xfrm>
          <a:prstGeom prst="rect">
            <a:avLst/>
          </a:prstGeom>
          <a:noFill/>
          <a:ln/>
        </p:spPr>
        <p:txBody>
          <a:bodyPr wrap="square" lIns="0" tIns="0" rIns="0" bIns="0" rtlCol="0" anchor="ctr"/>
          <a:lstStyle/>
          <a:p>
            <a:pPr algn="l" indent="0" marL="0">
              <a:buNone/>
            </a:pPr>
            <a:r>
              <a:rPr lang="en-US" sz="6000" b="1" dirty="0">
                <a:solidFill>
                  <a:schemeClr val="bg1"/>
                </a:solidFill>
              </a:rPr>
              <a:t>BugTrack</a:t>
            </a:r>
            <a:endParaRPr lang="en-US" sz="6000" dirty="0"/>
          </a:p>
        </p:txBody>
      </p:sp>
      <p:sp>
        <p:nvSpPr>
          <p:cNvPr id="4" name="Text 0"/>
          <p:cNvSpPr/>
          <p:nvPr>
            <p:ph idx="101" type="body" hasCustomPrompt="1"/>
          </p:nvPr>
        </p:nvSpPr>
        <p:spPr>
          <a:xfrm>
            <a:off x="548640" y="2606040"/>
            <a:ext cx="3840480" cy="1005840"/>
          </a:xfrm>
          <a:prstGeom prst="rect">
            <a:avLst/>
          </a:prstGeom>
          <a:noFill/>
          <a:ln/>
        </p:spPr>
        <p:txBody>
          <a:bodyPr wrap="square" lIns="0" tIns="0" rIns="0" bIns="0" rtlCol="0" anchor="t"/>
          <a:lstStyle/>
          <a:p>
            <a:pPr algn="l" indent="0" marL="0">
              <a:buNone/>
            </a:pPr>
            <a:r>
              <a:rPr lang="en-US" sz="2000" dirty="0">
                <a:solidFill>
                  <a:srgbClr val="A9C2B3"/>
                </a:solidFill>
              </a:rPr>
              <a:t>A bug tracker, taken from a laptop to a monitored Kubernetes cluster</a:t>
            </a:r>
            <a:endParaRPr lang="en-US" sz="2000" dirty="0"/>
          </a:p>
        </p:txBody>
      </p:sp>
      <p:sp>
        <p:nvSpPr>
          <p:cNvPr id="5" name="Author"/>
          <p:cNvSpPr txBox="1"/>
          <p:nvPr/>
        </p:nvSpPr>
        <p:spPr>
          <a:xfrm>
            <a:off x="548640" y="4160520"/>
            <a:ext cx="4023360" cy="365760"/>
          </a:xfrm>
          <a:prstGeom prst="rect">
            <a:avLst/>
          </a:prstGeom>
          <a:noFill/>
          <a:ln/>
        </p:spPr>
        <p:txBody>
          <a:bodyPr wrap="square" lIns="0" tIns="0" rIns="0" bIns="0" rtlCol="0" anchor="t"/>
          <a:lstStyle/>
          <a:p>
            <a:pPr indent="0" marL="0">
              <a:buNone/>
            </a:pPr>
            <a:r>
              <a:rPr lang="en-US" sz="1600" b="1" dirty="0">
                <a:solidFill>
                  <a:schemeClr val="bg1"/>
                </a:solidFill>
              </a:rPr>
              <a:t>Pratham Onkar Singh</a:t>
            </a:r>
            <a:pPr indent="0" marL="0">
              <a:buNone/>
            </a:pPr>
            <a:r>
              <a:rPr lang="en-US" sz="1600" dirty="0">
                <a:solidFill>
                  <a:schemeClr val="bg1"/>
                </a:solidFill>
              </a:rPr>
              <a:t>   24BCS10136</a:t>
            </a:r>
            <a:endParaRPr lang="en-US" sz="1600" dirty="0"/>
          </a:p>
        </p:txBody>
      </p:sp>
      <p:pic>
        <p:nvPicPr>
          <p:cNvPr id="6" name="BugTrack dashboard in the browser" descr="BugTrack dashboard in the browser">    </p:cNvPr>
          <p:cNvPicPr>
            <a:picLocks noChangeAspect="1"/>
          </p:cNvPicPr>
          <p:nvPr/>
        </p:nvPicPr>
        <p:blipFill>
          <a:blip r:embed="rId1"/>
          <a:stretch>
            <a:fillRect/>
          </a:stretch>
        </p:blipFill>
        <p:spPr>
          <a:xfrm>
            <a:off x="4709160" y="914400"/>
            <a:ext cx="3977640" cy="2394539"/>
          </a:xfrm>
          <a:prstGeom prst="rect">
            <a:avLst/>
          </a:prstGeom>
        </p:spPr>
      </p:pic>
      <p:pic>
        <p:nvPicPr>
          <p:cNvPr id="7" name="BugTrack on a phone-width window" descr="BugTrack on a phone-width window">    </p:cNvPr>
          <p:cNvPicPr>
            <a:picLocks noChangeAspect="1"/>
          </p:cNvPicPr>
          <p:nvPr/>
        </p:nvPicPr>
        <p:blipFill>
          <a:blip r:embed="rId2"/>
          <a:stretch>
            <a:fillRect/>
          </a:stretch>
        </p:blipFill>
        <p:spPr>
          <a:xfrm>
            <a:off x="7543800" y="2331720"/>
            <a:ext cx="1188720" cy="17304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7040880" cy="731520"/>
          </a:xfrm>
          <a:prstGeom prst="rect">
            <a:avLst/>
          </a:prstGeom>
          <a:noFill/>
          <a:ln/>
        </p:spPr>
        <p:txBody>
          <a:bodyPr wrap="square" lIns="0" tIns="0" rIns="0" bIns="0" rtlCol="0" anchor="ctr"/>
          <a:lstStyle/>
          <a:p>
            <a:pPr algn="l" indent="0" marL="0">
              <a:buNone/>
            </a:pPr>
            <a:r>
              <a:rPr lang="en-US" sz="3400" b="1" dirty="0">
                <a:solidFill>
                  <a:schemeClr val="tx1"/>
                </a:solidFill>
              </a:rPr>
              <a:t>What I built</a:t>
            </a:r>
            <a:endParaRPr lang="en-US" sz="3400" dirty="0"/>
          </a:p>
        </p:txBody>
      </p:sp>
      <p:sp>
        <p:nvSpPr>
          <p:cNvPr id="3" name="Module chip"/>
          <p:cNvSpPr/>
          <p:nvPr/>
        </p:nvSpPr>
        <p:spPr>
          <a:xfrm>
            <a:off x="7607808" y="502920"/>
            <a:ext cx="1078992" cy="365760"/>
          </a:xfrm>
          <a:prstGeom prst="roundRect">
            <a:avLst>
              <a:gd name="adj" fmla="val 50000"/>
            </a:avLst>
          </a:prstGeom>
          <a:solidFill>
            <a:schemeClr val="accent1"/>
          </a:solidFill>
          <a:ln/>
        </p:spPr>
      </p:sp>
      <p:sp>
        <p:nvSpPr>
          <p:cNvPr id="4" name="Module chip label"/>
          <p:cNvSpPr txBox="1"/>
          <p:nvPr/>
        </p:nvSpPr>
        <p:spPr>
          <a:xfrm>
            <a:off x="7607808" y="502920"/>
            <a:ext cx="1078992" cy="365760"/>
          </a:xfrm>
          <a:prstGeom prst="rect">
            <a:avLst/>
          </a:prstGeom>
          <a:noFill/>
          <a:ln/>
        </p:spPr>
        <p:txBody>
          <a:bodyPr wrap="square" lIns="0" tIns="0" rIns="0" bIns="0" rtlCol="0" anchor="ctr"/>
          <a:lstStyle/>
          <a:p>
            <a:pPr algn="ctr" indent="0" marL="0">
              <a:buNone/>
            </a:pPr>
            <a:r>
              <a:rPr lang="en-US" sz="1300" b="1" spc="100" kern="0" dirty="0">
                <a:solidFill>
                  <a:schemeClr val="bg1"/>
                </a:solidFill>
              </a:rPr>
              <a:t>OVERVIEW</a:t>
            </a:r>
            <a:endParaRPr lang="en-US" sz="1300" dirty="0"/>
          </a:p>
        </p:txBody>
      </p:sp>
      <p:sp>
        <p:nvSpPr>
          <p:cNvPr id="6" name="Text 3"/>
          <p:cNvSpPr txBox="1"/>
          <p:nvPr/>
        </p:nvSpPr>
        <p:spPr>
          <a:xfrm>
            <a:off x="457200" y="1234440"/>
            <a:ext cx="7863840" cy="731520"/>
          </a:xfrm>
          <a:prstGeom prst="rect">
            <a:avLst/>
          </a:prstGeom>
          <a:noFill/>
          <a:ln/>
        </p:spPr>
        <p:txBody>
          <a:bodyPr wrap="square" lIns="0" tIns="0" rIns="0" bIns="0" rtlCol="0" anchor="t"/>
          <a:lstStyle/>
          <a:p>
            <a:pPr indent="0" marL="0">
              <a:buNone/>
            </a:pPr>
            <a:r>
              <a:rPr lang="en-US" sz="1600" dirty="0">
                <a:solidFill>
                  <a:schemeClr val="tx1"/>
                </a:solidFill>
              </a:rPr>
              <a:t>BugTrack tracks a bug through open, investigating, resolved and closed. Every change travels the same path to a running, monitored cluster:</a:t>
            </a:r>
            <a:endParaRPr lang="en-US" sz="1600" dirty="0"/>
          </a:p>
        </p:txBody>
      </p:sp>
      <p:sp>
        <p:nvSpPr>
          <p:cNvPr id="7" name="Step 1 card"/>
          <p:cNvSpPr/>
          <p:nvPr/>
        </p:nvSpPr>
        <p:spPr>
          <a:xfrm>
            <a:off x="457200" y="2286000"/>
            <a:ext cx="1280160" cy="2240280"/>
          </a:xfrm>
          <a:prstGeom prst="roundRect">
            <a:avLst>
              <a:gd name="adj" fmla="val 8571"/>
            </a:avLst>
          </a:prstGeom>
          <a:solidFill>
            <a:schemeClr val="bg2"/>
          </a:solidFill>
          <a:ln/>
        </p:spPr>
      </p:sp>
      <p:sp>
        <p:nvSpPr>
          <p:cNvPr id="8" name="Code circle"/>
          <p:cNvSpPr/>
          <p:nvPr/>
        </p:nvSpPr>
        <p:spPr>
          <a:xfrm>
            <a:off x="822960" y="2487168"/>
            <a:ext cx="548640" cy="548640"/>
          </a:xfrm>
          <a:prstGeom prst="ellipse">
            <a:avLst/>
          </a:prstGeom>
          <a:solidFill>
            <a:schemeClr val="tx2"/>
          </a:solidFill>
          <a:ln/>
        </p:spPr>
      </p:sp>
      <p:pic>
        <p:nvPicPr>
          <p:cNvPr id="9" name="Code" descr="Code">    </p:cNvPr>
          <p:cNvPicPr>
            <a:picLocks noChangeAspect="1"/>
          </p:cNvPicPr>
          <p:nvPr/>
        </p:nvPicPr>
        <p:blipFill>
          <a:blip r:embed="rId1"/>
          <a:stretch>
            <a:fillRect/>
          </a:stretch>
        </p:blipFill>
        <p:spPr>
          <a:xfrm>
            <a:off x="971093" y="2635301"/>
            <a:ext cx="252374" cy="252374"/>
          </a:xfrm>
          <a:prstGeom prst="rect">
            <a:avLst/>
          </a:prstGeom>
        </p:spPr>
      </p:pic>
      <p:sp>
        <p:nvSpPr>
          <p:cNvPr id="10" name="Step 1 name"/>
          <p:cNvSpPr txBox="1"/>
          <p:nvPr/>
        </p:nvSpPr>
        <p:spPr>
          <a:xfrm>
            <a:off x="548640" y="3182112"/>
            <a:ext cx="1097280" cy="502920"/>
          </a:xfrm>
          <a:prstGeom prst="rect">
            <a:avLst/>
          </a:prstGeom>
          <a:noFill/>
          <a:ln/>
        </p:spPr>
        <p:txBody>
          <a:bodyPr wrap="square" lIns="0" tIns="0" rIns="0" bIns="0" rtlCol="0" anchor="t"/>
          <a:lstStyle/>
          <a:p>
            <a:pPr algn="ctr" indent="0" marL="0">
              <a:buNone/>
            </a:pPr>
            <a:r>
              <a:rPr lang="en-US" sz="1400" b="1" dirty="0">
                <a:solidFill>
                  <a:schemeClr val="tx1"/>
                </a:solidFill>
              </a:rPr>
              <a:t>Code</a:t>
            </a:r>
            <a:endParaRPr lang="en-US" sz="1400" dirty="0"/>
          </a:p>
        </p:txBody>
      </p:sp>
      <p:sp>
        <p:nvSpPr>
          <p:cNvPr id="11" name="Step 1 detail"/>
          <p:cNvSpPr txBox="1"/>
          <p:nvPr/>
        </p:nvSpPr>
        <p:spPr>
          <a:xfrm>
            <a:off x="548640" y="3703320"/>
            <a:ext cx="1097280" cy="731520"/>
          </a:xfrm>
          <a:prstGeom prst="rect">
            <a:avLst/>
          </a:prstGeom>
          <a:noFill/>
          <a:ln/>
        </p:spPr>
        <p:txBody>
          <a:bodyPr wrap="square" lIns="0" tIns="0" rIns="0" bIns="0" rtlCol="0" anchor="t"/>
          <a:lstStyle/>
          <a:p>
            <a:pPr algn="ctr" indent="0" marL="0">
              <a:buNone/>
            </a:pPr>
            <a:r>
              <a:rPr lang="en-US" sz="1400" dirty="0">
                <a:solidFill>
                  <a:schemeClr val="accent4"/>
                </a:solidFill>
              </a:rPr>
              <a:t>React, FastAPI, Postgres</a:t>
            </a:r>
            <a:endParaRPr lang="en-US" sz="1400" dirty="0"/>
          </a:p>
        </p:txBody>
      </p:sp>
      <p:sp>
        <p:nvSpPr>
          <p:cNvPr id="12" name="Step 2 card"/>
          <p:cNvSpPr/>
          <p:nvPr/>
        </p:nvSpPr>
        <p:spPr>
          <a:xfrm>
            <a:off x="1847088" y="2286000"/>
            <a:ext cx="1280160" cy="2240280"/>
          </a:xfrm>
          <a:prstGeom prst="roundRect">
            <a:avLst>
              <a:gd name="adj" fmla="val 8571"/>
            </a:avLst>
          </a:prstGeom>
          <a:solidFill>
            <a:schemeClr val="bg2"/>
          </a:solidFill>
          <a:ln/>
        </p:spPr>
      </p:sp>
      <p:sp>
        <p:nvSpPr>
          <p:cNvPr id="13" name="GitHub Actions circle"/>
          <p:cNvSpPr/>
          <p:nvPr/>
        </p:nvSpPr>
        <p:spPr>
          <a:xfrm>
            <a:off x="2212848" y="2487168"/>
            <a:ext cx="548640" cy="548640"/>
          </a:xfrm>
          <a:prstGeom prst="ellipse">
            <a:avLst/>
          </a:prstGeom>
          <a:solidFill>
            <a:schemeClr val="tx2"/>
          </a:solidFill>
          <a:ln/>
        </p:spPr>
      </p:sp>
      <p:pic>
        <p:nvPicPr>
          <p:cNvPr id="14" name="GitHub Actions" descr="GitHub Actions">    </p:cNvPr>
          <p:cNvPicPr>
            <a:picLocks noChangeAspect="1"/>
          </p:cNvPicPr>
          <p:nvPr/>
        </p:nvPicPr>
        <p:blipFill>
          <a:blip r:embed="rId2"/>
          <a:stretch>
            <a:fillRect/>
          </a:stretch>
        </p:blipFill>
        <p:spPr>
          <a:xfrm>
            <a:off x="2360981" y="2635301"/>
            <a:ext cx="252374" cy="252374"/>
          </a:xfrm>
          <a:prstGeom prst="rect">
            <a:avLst/>
          </a:prstGeom>
        </p:spPr>
      </p:pic>
      <p:sp>
        <p:nvSpPr>
          <p:cNvPr id="15" name="Step 2 name"/>
          <p:cNvSpPr txBox="1"/>
          <p:nvPr/>
        </p:nvSpPr>
        <p:spPr>
          <a:xfrm>
            <a:off x="1938528" y="3182112"/>
            <a:ext cx="1097280" cy="502920"/>
          </a:xfrm>
          <a:prstGeom prst="rect">
            <a:avLst/>
          </a:prstGeom>
          <a:noFill/>
          <a:ln/>
        </p:spPr>
        <p:txBody>
          <a:bodyPr wrap="square" lIns="0" tIns="0" rIns="0" bIns="0" rtlCol="0" anchor="t"/>
          <a:lstStyle/>
          <a:p>
            <a:pPr algn="ctr" indent="0" marL="0">
              <a:buNone/>
            </a:pPr>
            <a:r>
              <a:rPr lang="en-US" sz="1400" b="1" dirty="0">
                <a:solidFill>
                  <a:schemeClr val="tx1"/>
                </a:solidFill>
              </a:rPr>
              <a:t>GitHub Actions</a:t>
            </a:r>
            <a:endParaRPr lang="en-US" sz="1400" dirty="0"/>
          </a:p>
        </p:txBody>
      </p:sp>
      <p:sp>
        <p:nvSpPr>
          <p:cNvPr id="16" name="Step 2 detail"/>
          <p:cNvSpPr txBox="1"/>
          <p:nvPr/>
        </p:nvSpPr>
        <p:spPr>
          <a:xfrm>
            <a:off x="1938528" y="3703320"/>
            <a:ext cx="1097280" cy="731520"/>
          </a:xfrm>
          <a:prstGeom prst="rect">
            <a:avLst/>
          </a:prstGeom>
          <a:noFill/>
          <a:ln/>
        </p:spPr>
        <p:txBody>
          <a:bodyPr wrap="square" lIns="0" tIns="0" rIns="0" bIns="0" rtlCol="0" anchor="t"/>
          <a:lstStyle/>
          <a:p>
            <a:pPr algn="ctr" indent="0" marL="0">
              <a:buNone/>
            </a:pPr>
            <a:r>
              <a:rPr lang="en-US" sz="1400" dirty="0">
                <a:solidFill>
                  <a:schemeClr val="accent4"/>
                </a:solidFill>
              </a:rPr>
              <a:t>test, build, scan</a:t>
            </a:r>
            <a:endParaRPr lang="en-US" sz="1400" dirty="0"/>
          </a:p>
        </p:txBody>
      </p:sp>
      <p:sp>
        <p:nvSpPr>
          <p:cNvPr id="17" name="Step 3 card"/>
          <p:cNvSpPr/>
          <p:nvPr/>
        </p:nvSpPr>
        <p:spPr>
          <a:xfrm>
            <a:off x="3236976" y="2286000"/>
            <a:ext cx="1280160" cy="2240280"/>
          </a:xfrm>
          <a:prstGeom prst="roundRect">
            <a:avLst>
              <a:gd name="adj" fmla="val 8571"/>
            </a:avLst>
          </a:prstGeom>
          <a:solidFill>
            <a:schemeClr val="bg2"/>
          </a:solidFill>
          <a:ln/>
        </p:spPr>
      </p:sp>
      <p:sp>
        <p:nvSpPr>
          <p:cNvPr id="18" name="GHCR circle"/>
          <p:cNvSpPr/>
          <p:nvPr/>
        </p:nvSpPr>
        <p:spPr>
          <a:xfrm>
            <a:off x="3602736" y="2487168"/>
            <a:ext cx="548640" cy="548640"/>
          </a:xfrm>
          <a:prstGeom prst="ellipse">
            <a:avLst/>
          </a:prstGeom>
          <a:solidFill>
            <a:schemeClr val="tx2"/>
          </a:solidFill>
          <a:ln/>
        </p:spPr>
      </p:sp>
      <p:pic>
        <p:nvPicPr>
          <p:cNvPr id="19" name="GHCR" descr="GHCR">    </p:cNvPr>
          <p:cNvPicPr>
            <a:picLocks noChangeAspect="1"/>
          </p:cNvPicPr>
          <p:nvPr/>
        </p:nvPicPr>
        <p:blipFill>
          <a:blip r:embed="rId3"/>
          <a:stretch>
            <a:fillRect/>
          </a:stretch>
        </p:blipFill>
        <p:spPr>
          <a:xfrm>
            <a:off x="3750869" y="2635301"/>
            <a:ext cx="252374" cy="252374"/>
          </a:xfrm>
          <a:prstGeom prst="rect">
            <a:avLst/>
          </a:prstGeom>
        </p:spPr>
      </p:pic>
      <p:sp>
        <p:nvSpPr>
          <p:cNvPr id="20" name="Step 3 name"/>
          <p:cNvSpPr txBox="1"/>
          <p:nvPr/>
        </p:nvSpPr>
        <p:spPr>
          <a:xfrm>
            <a:off x="3328416" y="3182112"/>
            <a:ext cx="1097280" cy="502920"/>
          </a:xfrm>
          <a:prstGeom prst="rect">
            <a:avLst/>
          </a:prstGeom>
          <a:noFill/>
          <a:ln/>
        </p:spPr>
        <p:txBody>
          <a:bodyPr wrap="square" lIns="0" tIns="0" rIns="0" bIns="0" rtlCol="0" anchor="t"/>
          <a:lstStyle/>
          <a:p>
            <a:pPr algn="ctr" indent="0" marL="0">
              <a:buNone/>
            </a:pPr>
            <a:r>
              <a:rPr lang="en-US" sz="1400" b="1" dirty="0">
                <a:solidFill>
                  <a:schemeClr val="tx1"/>
                </a:solidFill>
              </a:rPr>
              <a:t>GHCR</a:t>
            </a:r>
            <a:endParaRPr lang="en-US" sz="1400" dirty="0"/>
          </a:p>
        </p:txBody>
      </p:sp>
      <p:sp>
        <p:nvSpPr>
          <p:cNvPr id="21" name="Step 3 detail"/>
          <p:cNvSpPr txBox="1"/>
          <p:nvPr/>
        </p:nvSpPr>
        <p:spPr>
          <a:xfrm>
            <a:off x="3328416" y="3703320"/>
            <a:ext cx="1097280" cy="731520"/>
          </a:xfrm>
          <a:prstGeom prst="rect">
            <a:avLst/>
          </a:prstGeom>
          <a:noFill/>
          <a:ln/>
        </p:spPr>
        <p:txBody>
          <a:bodyPr wrap="square" lIns="0" tIns="0" rIns="0" bIns="0" rtlCol="0" anchor="t"/>
          <a:lstStyle/>
          <a:p>
            <a:pPr algn="ctr" indent="0" marL="0">
              <a:buNone/>
            </a:pPr>
            <a:r>
              <a:rPr lang="en-US" sz="1400" dirty="0">
                <a:solidFill>
                  <a:schemeClr val="accent4"/>
                </a:solidFill>
              </a:rPr>
              <a:t>SHA-tagged images</a:t>
            </a:r>
            <a:endParaRPr lang="en-US" sz="1400" dirty="0"/>
          </a:p>
        </p:txBody>
      </p:sp>
      <p:sp>
        <p:nvSpPr>
          <p:cNvPr id="22" name="Step 4 card"/>
          <p:cNvSpPr/>
          <p:nvPr/>
        </p:nvSpPr>
        <p:spPr>
          <a:xfrm>
            <a:off x="4626864" y="2286000"/>
            <a:ext cx="1280160" cy="2240280"/>
          </a:xfrm>
          <a:prstGeom prst="roundRect">
            <a:avLst>
              <a:gd name="adj" fmla="val 8571"/>
            </a:avLst>
          </a:prstGeom>
          <a:solidFill>
            <a:schemeClr val="bg2"/>
          </a:solidFill>
          <a:ln/>
        </p:spPr>
      </p:sp>
      <p:sp>
        <p:nvSpPr>
          <p:cNvPr id="23" name="Terraform circle"/>
          <p:cNvSpPr/>
          <p:nvPr/>
        </p:nvSpPr>
        <p:spPr>
          <a:xfrm>
            <a:off x="4992624" y="2487168"/>
            <a:ext cx="548640" cy="548640"/>
          </a:xfrm>
          <a:prstGeom prst="ellipse">
            <a:avLst/>
          </a:prstGeom>
          <a:solidFill>
            <a:schemeClr val="accent1"/>
          </a:solidFill>
          <a:ln/>
        </p:spPr>
      </p:sp>
      <p:pic>
        <p:nvPicPr>
          <p:cNvPr id="24" name="Terraform" descr="Terraform">    </p:cNvPr>
          <p:cNvPicPr>
            <a:picLocks noChangeAspect="1"/>
          </p:cNvPicPr>
          <p:nvPr/>
        </p:nvPicPr>
        <p:blipFill>
          <a:blip r:embed="rId4"/>
          <a:stretch>
            <a:fillRect/>
          </a:stretch>
        </p:blipFill>
        <p:spPr>
          <a:xfrm>
            <a:off x="5140757" y="2635301"/>
            <a:ext cx="252374" cy="252374"/>
          </a:xfrm>
          <a:prstGeom prst="rect">
            <a:avLst/>
          </a:prstGeom>
        </p:spPr>
      </p:pic>
      <p:sp>
        <p:nvSpPr>
          <p:cNvPr id="25" name="Step 4 name"/>
          <p:cNvSpPr txBox="1"/>
          <p:nvPr/>
        </p:nvSpPr>
        <p:spPr>
          <a:xfrm>
            <a:off x="4718304" y="3182112"/>
            <a:ext cx="1097280" cy="502920"/>
          </a:xfrm>
          <a:prstGeom prst="rect">
            <a:avLst/>
          </a:prstGeom>
          <a:noFill/>
          <a:ln/>
        </p:spPr>
        <p:txBody>
          <a:bodyPr wrap="square" lIns="0" tIns="0" rIns="0" bIns="0" rtlCol="0" anchor="t"/>
          <a:lstStyle/>
          <a:p>
            <a:pPr algn="ctr" indent="0" marL="0">
              <a:buNone/>
            </a:pPr>
            <a:r>
              <a:rPr lang="en-US" sz="1400" b="1" dirty="0">
                <a:solidFill>
                  <a:schemeClr val="tx1"/>
                </a:solidFill>
              </a:rPr>
              <a:t>Terraform</a:t>
            </a:r>
            <a:endParaRPr lang="en-US" sz="1400" dirty="0"/>
          </a:p>
        </p:txBody>
      </p:sp>
      <p:sp>
        <p:nvSpPr>
          <p:cNvPr id="26" name="Step 4 detail"/>
          <p:cNvSpPr txBox="1"/>
          <p:nvPr/>
        </p:nvSpPr>
        <p:spPr>
          <a:xfrm>
            <a:off x="4718304" y="3703320"/>
            <a:ext cx="1097280" cy="731520"/>
          </a:xfrm>
          <a:prstGeom prst="rect">
            <a:avLst/>
          </a:prstGeom>
          <a:noFill/>
          <a:ln/>
        </p:spPr>
        <p:txBody>
          <a:bodyPr wrap="square" lIns="0" tIns="0" rIns="0" bIns="0" rtlCol="0" anchor="t"/>
          <a:lstStyle/>
          <a:p>
            <a:pPr algn="ctr" indent="0" marL="0">
              <a:buNone/>
            </a:pPr>
            <a:r>
              <a:rPr lang="en-US" sz="1400" dirty="0">
                <a:solidFill>
                  <a:schemeClr val="accent4"/>
                </a:solidFill>
              </a:rPr>
              <a:t>AWS VPC and EKS</a:t>
            </a:r>
            <a:endParaRPr lang="en-US" sz="1400" dirty="0"/>
          </a:p>
        </p:txBody>
      </p:sp>
      <p:sp>
        <p:nvSpPr>
          <p:cNvPr id="27" name="Step 5 card"/>
          <p:cNvSpPr/>
          <p:nvPr/>
        </p:nvSpPr>
        <p:spPr>
          <a:xfrm>
            <a:off x="6016752" y="2286000"/>
            <a:ext cx="1280160" cy="2240280"/>
          </a:xfrm>
          <a:prstGeom prst="roundRect">
            <a:avLst>
              <a:gd name="adj" fmla="val 8571"/>
            </a:avLst>
          </a:prstGeom>
          <a:solidFill>
            <a:schemeClr val="bg2"/>
          </a:solidFill>
          <a:ln/>
        </p:spPr>
      </p:sp>
      <p:sp>
        <p:nvSpPr>
          <p:cNvPr id="28" name="Helm circle"/>
          <p:cNvSpPr/>
          <p:nvPr/>
        </p:nvSpPr>
        <p:spPr>
          <a:xfrm>
            <a:off x="6382512" y="2487168"/>
            <a:ext cx="548640" cy="548640"/>
          </a:xfrm>
          <a:prstGeom prst="ellipse">
            <a:avLst/>
          </a:prstGeom>
          <a:solidFill>
            <a:schemeClr val="accent1"/>
          </a:solidFill>
          <a:ln/>
        </p:spPr>
      </p:sp>
      <p:pic>
        <p:nvPicPr>
          <p:cNvPr id="29" name="Helm" descr="Helm">    </p:cNvPr>
          <p:cNvPicPr>
            <a:picLocks noChangeAspect="1"/>
          </p:cNvPicPr>
          <p:nvPr/>
        </p:nvPicPr>
        <p:blipFill>
          <a:blip r:embed="rId5"/>
          <a:stretch>
            <a:fillRect/>
          </a:stretch>
        </p:blipFill>
        <p:spPr>
          <a:xfrm>
            <a:off x="6530645" y="2635301"/>
            <a:ext cx="252374" cy="252374"/>
          </a:xfrm>
          <a:prstGeom prst="rect">
            <a:avLst/>
          </a:prstGeom>
        </p:spPr>
      </p:pic>
      <p:sp>
        <p:nvSpPr>
          <p:cNvPr id="30" name="Step 5 name"/>
          <p:cNvSpPr txBox="1"/>
          <p:nvPr/>
        </p:nvSpPr>
        <p:spPr>
          <a:xfrm>
            <a:off x="6108192" y="3182112"/>
            <a:ext cx="1097280" cy="502920"/>
          </a:xfrm>
          <a:prstGeom prst="rect">
            <a:avLst/>
          </a:prstGeom>
          <a:noFill/>
          <a:ln/>
        </p:spPr>
        <p:txBody>
          <a:bodyPr wrap="square" lIns="0" tIns="0" rIns="0" bIns="0" rtlCol="0" anchor="t"/>
          <a:lstStyle/>
          <a:p>
            <a:pPr algn="ctr" indent="0" marL="0">
              <a:buNone/>
            </a:pPr>
            <a:r>
              <a:rPr lang="en-US" sz="1400" b="1" dirty="0">
                <a:solidFill>
                  <a:schemeClr val="tx1"/>
                </a:solidFill>
              </a:rPr>
              <a:t>Helm</a:t>
            </a:r>
            <a:endParaRPr lang="en-US" sz="1400" dirty="0"/>
          </a:p>
        </p:txBody>
      </p:sp>
      <p:sp>
        <p:nvSpPr>
          <p:cNvPr id="31" name="Step 5 detail"/>
          <p:cNvSpPr txBox="1"/>
          <p:nvPr/>
        </p:nvSpPr>
        <p:spPr>
          <a:xfrm>
            <a:off x="6108192" y="3703320"/>
            <a:ext cx="1097280" cy="731520"/>
          </a:xfrm>
          <a:prstGeom prst="rect">
            <a:avLst/>
          </a:prstGeom>
          <a:noFill/>
          <a:ln/>
        </p:spPr>
        <p:txBody>
          <a:bodyPr wrap="square" lIns="0" tIns="0" rIns="0" bIns="0" rtlCol="0" anchor="t"/>
          <a:lstStyle/>
          <a:p>
            <a:pPr algn="ctr" indent="0" marL="0">
              <a:buNone/>
            </a:pPr>
            <a:r>
              <a:rPr lang="en-US" sz="1400" dirty="0">
                <a:solidFill>
                  <a:schemeClr val="accent4"/>
                </a:solidFill>
              </a:rPr>
              <a:t>Kubernetes release</a:t>
            </a:r>
            <a:endParaRPr lang="en-US" sz="1400" dirty="0"/>
          </a:p>
        </p:txBody>
      </p:sp>
      <p:sp>
        <p:nvSpPr>
          <p:cNvPr id="32" name="Step 6 card"/>
          <p:cNvSpPr/>
          <p:nvPr/>
        </p:nvSpPr>
        <p:spPr>
          <a:xfrm>
            <a:off x="7406640" y="2286000"/>
            <a:ext cx="1280160" cy="2240280"/>
          </a:xfrm>
          <a:prstGeom prst="roundRect">
            <a:avLst>
              <a:gd name="adj" fmla="val 8571"/>
            </a:avLst>
          </a:prstGeom>
          <a:solidFill>
            <a:schemeClr val="bg2"/>
          </a:solidFill>
          <a:ln/>
        </p:spPr>
      </p:sp>
      <p:sp>
        <p:nvSpPr>
          <p:cNvPr id="33" name="Prometheus + Grafana circle"/>
          <p:cNvSpPr/>
          <p:nvPr/>
        </p:nvSpPr>
        <p:spPr>
          <a:xfrm>
            <a:off x="7772400" y="2487168"/>
            <a:ext cx="548640" cy="548640"/>
          </a:xfrm>
          <a:prstGeom prst="ellipse">
            <a:avLst/>
          </a:prstGeom>
          <a:solidFill>
            <a:schemeClr val="accent1"/>
          </a:solidFill>
          <a:ln/>
        </p:spPr>
      </p:sp>
      <p:pic>
        <p:nvPicPr>
          <p:cNvPr id="34" name="Prometheus + Grafana" descr="Prometheus + Grafana">    </p:cNvPr>
          <p:cNvPicPr>
            <a:picLocks noChangeAspect="1"/>
          </p:cNvPicPr>
          <p:nvPr/>
        </p:nvPicPr>
        <p:blipFill>
          <a:blip r:embed="rId6"/>
          <a:stretch>
            <a:fillRect/>
          </a:stretch>
        </p:blipFill>
        <p:spPr>
          <a:xfrm>
            <a:off x="7920533" y="2635301"/>
            <a:ext cx="252374" cy="252374"/>
          </a:xfrm>
          <a:prstGeom prst="rect">
            <a:avLst/>
          </a:prstGeom>
        </p:spPr>
      </p:pic>
      <p:sp>
        <p:nvSpPr>
          <p:cNvPr id="35" name="Step 6 name"/>
          <p:cNvSpPr txBox="1"/>
          <p:nvPr/>
        </p:nvSpPr>
        <p:spPr>
          <a:xfrm>
            <a:off x="7498080" y="3182112"/>
            <a:ext cx="1097280" cy="502920"/>
          </a:xfrm>
          <a:prstGeom prst="rect">
            <a:avLst/>
          </a:prstGeom>
          <a:noFill/>
          <a:ln/>
        </p:spPr>
        <p:txBody>
          <a:bodyPr wrap="square" lIns="0" tIns="0" rIns="0" bIns="0" rtlCol="0" anchor="t"/>
          <a:lstStyle/>
          <a:p>
            <a:pPr algn="ctr" indent="0" marL="0">
              <a:buNone/>
            </a:pPr>
            <a:r>
              <a:rPr lang="en-US" sz="1400" b="1" dirty="0">
                <a:solidFill>
                  <a:schemeClr val="tx1"/>
                </a:solidFill>
              </a:rPr>
              <a:t>Prometheus + Grafana</a:t>
            </a:r>
            <a:endParaRPr lang="en-US" sz="1400" dirty="0"/>
          </a:p>
        </p:txBody>
      </p:sp>
      <p:sp>
        <p:nvSpPr>
          <p:cNvPr id="36" name="Step 6 detail"/>
          <p:cNvSpPr txBox="1"/>
          <p:nvPr/>
        </p:nvSpPr>
        <p:spPr>
          <a:xfrm>
            <a:off x="7498080" y="3703320"/>
            <a:ext cx="1097280" cy="731520"/>
          </a:xfrm>
          <a:prstGeom prst="rect">
            <a:avLst/>
          </a:prstGeom>
          <a:noFill/>
          <a:ln/>
        </p:spPr>
        <p:txBody>
          <a:bodyPr wrap="square" lIns="0" tIns="0" rIns="0" bIns="0" rtlCol="0" anchor="t"/>
          <a:lstStyle/>
          <a:p>
            <a:pPr algn="ctr" indent="0" marL="0">
              <a:buNone/>
            </a:pPr>
            <a:r>
              <a:rPr lang="en-US" sz="1400" dirty="0">
                <a:solidFill>
                  <a:schemeClr val="accent4"/>
                </a:solidFill>
              </a:rPr>
              <a:t>live metrics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7040880" cy="731520"/>
          </a:xfrm>
          <a:prstGeom prst="rect">
            <a:avLst/>
          </a:prstGeom>
          <a:noFill/>
          <a:ln/>
        </p:spPr>
        <p:txBody>
          <a:bodyPr wrap="square" lIns="0" tIns="0" rIns="0" bIns="0" rtlCol="0" anchor="ctr"/>
          <a:lstStyle/>
          <a:p>
            <a:pPr algn="l" indent="0" marL="0">
              <a:buNone/>
            </a:pPr>
            <a:r>
              <a:rPr lang="en-US" sz="3400" b="1" dirty="0">
                <a:solidFill>
                  <a:schemeClr val="tx1"/>
                </a:solidFill>
              </a:rPr>
              <a:t>The application</a:t>
            </a:r>
            <a:endParaRPr lang="en-US" sz="3400" dirty="0"/>
          </a:p>
        </p:txBody>
      </p:sp>
      <p:sp>
        <p:nvSpPr>
          <p:cNvPr id="3" name="Module chip"/>
          <p:cNvSpPr/>
          <p:nvPr/>
        </p:nvSpPr>
        <p:spPr>
          <a:xfrm>
            <a:off x="7863840" y="502920"/>
            <a:ext cx="822960" cy="365760"/>
          </a:xfrm>
          <a:prstGeom prst="roundRect">
            <a:avLst>
              <a:gd name="adj" fmla="val 50000"/>
            </a:avLst>
          </a:prstGeom>
          <a:solidFill>
            <a:schemeClr val="accent1"/>
          </a:solidFill>
          <a:ln/>
        </p:spPr>
      </p:sp>
      <p:sp>
        <p:nvSpPr>
          <p:cNvPr id="4" name="Module chip label"/>
          <p:cNvSpPr txBox="1"/>
          <p:nvPr/>
        </p:nvSpPr>
        <p:spPr>
          <a:xfrm>
            <a:off x="7863840" y="502920"/>
            <a:ext cx="822960" cy="365760"/>
          </a:xfrm>
          <a:prstGeom prst="rect">
            <a:avLst/>
          </a:prstGeom>
          <a:noFill/>
          <a:ln/>
        </p:spPr>
        <p:txBody>
          <a:bodyPr wrap="square" lIns="0" tIns="0" rIns="0" bIns="0" rtlCol="0" anchor="ctr"/>
          <a:lstStyle/>
          <a:p>
            <a:pPr algn="ctr" indent="0" marL="0">
              <a:buNone/>
            </a:pPr>
            <a:r>
              <a:rPr lang="en-US" sz="1300" b="1" spc="100" kern="0" dirty="0">
                <a:solidFill>
                  <a:schemeClr val="bg1"/>
                </a:solidFill>
              </a:rPr>
              <a:t>M1</a:t>
            </a:r>
            <a:endParaRPr lang="en-US" sz="1300" dirty="0"/>
          </a:p>
        </p:txBody>
      </p:sp>
      <p:sp>
        <p:nvSpPr>
          <p:cNvPr id="6" name="Stat 6"/>
          <p:cNvSpPr txBox="1"/>
          <p:nvPr/>
        </p:nvSpPr>
        <p:spPr>
          <a:xfrm>
            <a:off x="457200" y="1280160"/>
            <a:ext cx="86868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6</a:t>
            </a:r>
            <a:endParaRPr lang="en-US" sz="5400" dirty="0"/>
          </a:p>
        </p:txBody>
      </p:sp>
      <p:sp>
        <p:nvSpPr>
          <p:cNvPr id="7" name="Stat label 1"/>
          <p:cNvSpPr txBox="1"/>
          <p:nvPr/>
        </p:nvSpPr>
        <p:spPr>
          <a:xfrm>
            <a:off x="1417320" y="1280160"/>
            <a:ext cx="2377440" cy="914400"/>
          </a:xfrm>
          <a:prstGeom prst="rect">
            <a:avLst/>
          </a:prstGeom>
          <a:noFill/>
          <a:ln/>
        </p:spPr>
        <p:txBody>
          <a:bodyPr wrap="square" lIns="0" tIns="0" rIns="0" bIns="0" rtlCol="0" anchor="ctr"/>
          <a:lstStyle/>
          <a:p>
            <a:pPr indent="0" marL="0">
              <a:buNone/>
            </a:pPr>
            <a:r>
              <a:rPr lang="en-US" sz="1400" dirty="0">
                <a:solidFill>
                  <a:schemeClr val="tx1"/>
                </a:solidFill>
              </a:rPr>
              <a:t>REST endpoints under /api: list, create, get, update, delete, stats</a:t>
            </a:r>
            <a:endParaRPr lang="en-US" sz="1400" dirty="0"/>
          </a:p>
        </p:txBody>
      </p:sp>
      <p:sp>
        <p:nvSpPr>
          <p:cNvPr id="8" name="Stat 3"/>
          <p:cNvSpPr txBox="1"/>
          <p:nvPr/>
        </p:nvSpPr>
        <p:spPr>
          <a:xfrm>
            <a:off x="457200" y="2377440"/>
            <a:ext cx="86868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3</a:t>
            </a:r>
            <a:endParaRPr lang="en-US" sz="5400" dirty="0"/>
          </a:p>
        </p:txBody>
      </p:sp>
      <p:sp>
        <p:nvSpPr>
          <p:cNvPr id="9" name="Stat label 2"/>
          <p:cNvSpPr txBox="1"/>
          <p:nvPr/>
        </p:nvSpPr>
        <p:spPr>
          <a:xfrm>
            <a:off x="1417320" y="2377440"/>
            <a:ext cx="2377440" cy="914400"/>
          </a:xfrm>
          <a:prstGeom prst="rect">
            <a:avLst/>
          </a:prstGeom>
          <a:noFill/>
          <a:ln/>
        </p:spPr>
        <p:txBody>
          <a:bodyPr wrap="square" lIns="0" tIns="0" rIns="0" bIns="0" rtlCol="0" anchor="ctr"/>
          <a:lstStyle/>
          <a:p>
            <a:pPr indent="0" marL="0">
              <a:buNone/>
            </a:pPr>
            <a:r>
              <a:rPr lang="en-US" sz="1400" dirty="0">
                <a:solidFill>
                  <a:schemeClr val="tx1"/>
                </a:solidFill>
              </a:rPr>
              <a:t>operational endpoints: /health, /ready and /metrics</a:t>
            </a:r>
            <a:endParaRPr lang="en-US" sz="1400" dirty="0"/>
          </a:p>
        </p:txBody>
      </p:sp>
      <p:sp>
        <p:nvSpPr>
          <p:cNvPr id="10" name="Stat 1"/>
          <p:cNvSpPr txBox="1"/>
          <p:nvPr/>
        </p:nvSpPr>
        <p:spPr>
          <a:xfrm>
            <a:off x="457200" y="3474720"/>
            <a:ext cx="86868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1</a:t>
            </a:r>
            <a:endParaRPr lang="en-US" sz="5400" dirty="0"/>
          </a:p>
        </p:txBody>
      </p:sp>
      <p:sp>
        <p:nvSpPr>
          <p:cNvPr id="11" name="Stat label 3"/>
          <p:cNvSpPr txBox="1"/>
          <p:nvPr/>
        </p:nvSpPr>
        <p:spPr>
          <a:xfrm>
            <a:off x="1417320" y="3474720"/>
            <a:ext cx="2377440" cy="914400"/>
          </a:xfrm>
          <a:prstGeom prst="rect">
            <a:avLst/>
          </a:prstGeom>
          <a:noFill/>
          <a:ln/>
        </p:spPr>
        <p:txBody>
          <a:bodyPr wrap="square" lIns="0" tIns="0" rIns="0" bIns="0" rtlCol="0" anchor="ctr"/>
          <a:lstStyle/>
          <a:p>
            <a:pPr indent="0" marL="0">
              <a:buNone/>
            </a:pPr>
            <a:r>
              <a:rPr lang="en-US" sz="1400" dirty="0">
                <a:solidFill>
                  <a:schemeClr val="tx1"/>
                </a:solidFill>
              </a:rPr>
              <a:t>Alembic migration that creates the bugs table</a:t>
            </a:r>
            <a:endParaRPr lang="en-US" sz="1400" dirty="0"/>
          </a:p>
        </p:txBody>
      </p:sp>
      <p:pic>
        <p:nvPicPr>
          <p:cNvPr id="12" name="BugTrack dashboard" descr="BugTrack dashboard">    </p:cNvPr>
          <p:cNvPicPr>
            <a:picLocks noChangeAspect="1"/>
          </p:cNvPicPr>
          <p:nvPr/>
        </p:nvPicPr>
        <p:blipFill>
          <a:blip r:embed="rId1"/>
          <a:stretch>
            <a:fillRect/>
          </a:stretch>
        </p:blipFill>
        <p:spPr>
          <a:xfrm>
            <a:off x="4069080" y="1280160"/>
            <a:ext cx="4160520" cy="2504633"/>
          </a:xfrm>
          <a:prstGeom prst="rect">
            <a:avLst/>
          </a:prstGeom>
        </p:spPr>
      </p:pic>
      <p:pic>
        <p:nvPicPr>
          <p:cNvPr id="13" name="BugTrack at phone width" descr="BugTrack at phone width">    </p:cNvPr>
          <p:cNvPicPr>
            <a:picLocks noChangeAspect="1"/>
          </p:cNvPicPr>
          <p:nvPr/>
        </p:nvPicPr>
        <p:blipFill>
          <a:blip r:embed="rId2"/>
          <a:stretch>
            <a:fillRect/>
          </a:stretch>
        </p:blipFill>
        <p:spPr>
          <a:xfrm>
            <a:off x="7360920" y="2834640"/>
            <a:ext cx="1280160" cy="1863577"/>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7040880" cy="731520"/>
          </a:xfrm>
          <a:prstGeom prst="rect">
            <a:avLst/>
          </a:prstGeom>
          <a:noFill/>
          <a:ln/>
        </p:spPr>
        <p:txBody>
          <a:bodyPr wrap="square" lIns="0" tIns="0" rIns="0" bIns="0" rtlCol="0" anchor="ctr"/>
          <a:lstStyle/>
          <a:p>
            <a:pPr algn="l" indent="0" marL="0">
              <a:buNone/>
            </a:pPr>
            <a:r>
              <a:rPr lang="en-US" sz="3400" b="1" dirty="0">
                <a:solidFill>
                  <a:schemeClr val="tx1"/>
                </a:solidFill>
              </a:rPr>
              <a:t>Tests</a:t>
            </a:r>
            <a:endParaRPr lang="en-US" sz="3400" dirty="0"/>
          </a:p>
        </p:txBody>
      </p:sp>
      <p:sp>
        <p:nvSpPr>
          <p:cNvPr id="3" name="Module chip"/>
          <p:cNvSpPr/>
          <p:nvPr/>
        </p:nvSpPr>
        <p:spPr>
          <a:xfrm>
            <a:off x="7863840" y="502920"/>
            <a:ext cx="822960" cy="365760"/>
          </a:xfrm>
          <a:prstGeom prst="roundRect">
            <a:avLst>
              <a:gd name="adj" fmla="val 50000"/>
            </a:avLst>
          </a:prstGeom>
          <a:solidFill>
            <a:schemeClr val="accent1"/>
          </a:solidFill>
          <a:ln/>
        </p:spPr>
      </p:sp>
      <p:sp>
        <p:nvSpPr>
          <p:cNvPr id="4" name="Module chip label"/>
          <p:cNvSpPr txBox="1"/>
          <p:nvPr/>
        </p:nvSpPr>
        <p:spPr>
          <a:xfrm>
            <a:off x="7863840" y="502920"/>
            <a:ext cx="822960" cy="365760"/>
          </a:xfrm>
          <a:prstGeom prst="rect">
            <a:avLst/>
          </a:prstGeom>
          <a:noFill/>
          <a:ln/>
        </p:spPr>
        <p:txBody>
          <a:bodyPr wrap="square" lIns="0" tIns="0" rIns="0" bIns="0" rtlCol="0" anchor="ctr"/>
          <a:lstStyle/>
          <a:p>
            <a:pPr algn="ctr" indent="0" marL="0">
              <a:buNone/>
            </a:pPr>
            <a:r>
              <a:rPr lang="en-US" sz="1300" b="1" spc="100" kern="0" dirty="0">
                <a:solidFill>
                  <a:schemeClr val="bg1"/>
                </a:solidFill>
              </a:rPr>
              <a:t>M2</a:t>
            </a:r>
            <a:endParaRPr lang="en-US" sz="1300" dirty="0"/>
          </a:p>
        </p:txBody>
      </p:sp>
      <p:sp>
        <p:nvSpPr>
          <p:cNvPr id="6" name="Test count"/>
          <p:cNvSpPr txBox="1"/>
          <p:nvPr/>
        </p:nvSpPr>
        <p:spPr>
          <a:xfrm>
            <a:off x="457200" y="1097280"/>
            <a:ext cx="3657600" cy="1051560"/>
          </a:xfrm>
          <a:prstGeom prst="rect">
            <a:avLst/>
          </a:prstGeom>
          <a:noFill/>
          <a:ln/>
        </p:spPr>
        <p:txBody>
          <a:bodyPr wrap="square" lIns="0" tIns="0" rIns="0" bIns="0" rtlCol="0" anchor="ctr"/>
          <a:lstStyle/>
          <a:p>
            <a:pPr indent="0" marL="0">
              <a:buNone/>
            </a:pPr>
            <a:r>
              <a:rPr lang="en-US" sz="8000" b="1" dirty="0">
                <a:solidFill>
                  <a:schemeClr val="accent3"/>
                </a:solidFill>
                <a:latin typeface="+mj-lt" pitchFamily="34" charset="0"/>
                <a:ea typeface="+mj-lt" pitchFamily="34" charset="-122"/>
                <a:cs typeface="+mj-lt" pitchFamily="34" charset="-120"/>
              </a:rPr>
              <a:t>16</a:t>
            </a:r>
            <a:endParaRPr lang="en-US" sz="8000" dirty="0"/>
          </a:p>
        </p:txBody>
      </p:sp>
      <p:sp>
        <p:nvSpPr>
          <p:cNvPr id="7" name="Test count label"/>
          <p:cNvSpPr txBox="1"/>
          <p:nvPr/>
        </p:nvSpPr>
        <p:spPr>
          <a:xfrm>
            <a:off x="457200" y="2103120"/>
            <a:ext cx="3657600" cy="365760"/>
          </a:xfrm>
          <a:prstGeom prst="rect">
            <a:avLst/>
          </a:prstGeom>
          <a:noFill/>
          <a:ln/>
        </p:spPr>
        <p:txBody>
          <a:bodyPr wrap="square" lIns="0" tIns="0" rIns="0" bIns="0" rtlCol="0" anchor="t"/>
          <a:lstStyle/>
          <a:p>
            <a:pPr indent="0" marL="0">
              <a:buNone/>
            </a:pPr>
            <a:r>
              <a:rPr lang="en-US" sz="1800" b="1" dirty="0">
                <a:solidFill>
                  <a:schemeClr val="tx1"/>
                </a:solidFill>
              </a:rPr>
              <a:t>tests, all passing</a:t>
            </a:r>
            <a:endParaRPr lang="en-US" sz="1800" dirty="0"/>
          </a:p>
        </p:txBody>
      </p:sp>
      <p:sp>
        <p:nvSpPr>
          <p:cNvPr id="8" name="Test notes"/>
          <p:cNvSpPr txBox="1"/>
          <p:nvPr/>
        </p:nvSpPr>
        <p:spPr>
          <a:xfrm>
            <a:off x="457200" y="2697480"/>
            <a:ext cx="3657600" cy="19202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In-memory SQLite, not real Postgres</a:t>
            </a:r>
            <a:endParaRPr lang="en-US" sz="1400" dirty="0"/>
          </a:p>
          <a:p>
            <a:pPr marL="203200" indent="-203200">
              <a:spcAft>
                <a:spcPts val="600"/>
              </a:spcAft>
              <a:buSzPct val="100000"/>
              <a:buChar char="•"/>
            </a:pPr>
            <a:r>
              <a:rPr lang="en-US" sz="1400" dirty="0">
                <a:solidFill>
                  <a:schemeClr val="tx1"/>
                </a:solidFill>
              </a:rPr>
              <a:t>Create, list, get, update, delete, stats</a:t>
            </a:r>
            <a:endParaRPr lang="en-US" sz="1400" dirty="0"/>
          </a:p>
          <a:p>
            <a:pPr marL="203200" indent="-203200">
              <a:spcAft>
                <a:spcPts val="600"/>
              </a:spcAft>
              <a:buSzPct val="100000"/>
              <a:buChar char="•"/>
            </a:pPr>
            <a:r>
              <a:rPr lang="en-US" sz="1400" dirty="0">
                <a:solidFill>
                  <a:schemeClr val="tx1"/>
                </a:solidFill>
              </a:rPr>
              <a:t>Bad input: 422. Missing ids: 404</a:t>
            </a:r>
            <a:endParaRPr lang="en-US" sz="1400" dirty="0"/>
          </a:p>
          <a:p>
            <a:pPr marL="203200" indent="-203200">
              <a:spcAft>
                <a:spcPts val="600"/>
              </a:spcAft>
              <a:buSzPct val="100000"/>
              <a:buChar char="•"/>
            </a:pPr>
            <a:r>
              <a:rPr lang="en-US" sz="1400" dirty="0">
                <a:solidFill>
                  <a:schemeClr val="tx1"/>
                </a:solidFill>
              </a:rPr>
              <a:t>/ready returns 503 if the DB is down</a:t>
            </a:r>
            <a:endParaRPr lang="en-US" sz="1400" dirty="0"/>
          </a:p>
          <a:p>
            <a:pPr marL="203200" indent="-203200">
              <a:spcAft>
                <a:spcPts val="600"/>
              </a:spcAft>
              <a:buSzPct val="100000"/>
              <a:buChar char="•"/>
            </a:pPr>
            <a:r>
              <a:rPr lang="en-US" sz="1400" dirty="0">
                <a:solidFill>
                  <a:schemeClr val="tx1"/>
                </a:solidFill>
              </a:rPr>
              <a:t>/metrics is exposed</a:t>
            </a:r>
            <a:endParaRPr lang="en-US" sz="1400" dirty="0"/>
          </a:p>
        </p:txBody>
      </p:sp>
      <p:pic>
        <p:nvPicPr>
          <p:cNvPr id="9" name="pytest -v output, 16 passed" descr="pytest -v output, 16 passed">    </p:cNvPr>
          <p:cNvPicPr>
            <a:picLocks noChangeAspect="1"/>
          </p:cNvPicPr>
          <p:nvPr/>
        </p:nvPicPr>
        <p:blipFill>
          <a:blip r:embed="rId1"/>
          <a:stretch>
            <a:fillRect/>
          </a:stretch>
        </p:blipFill>
        <p:spPr>
          <a:xfrm>
            <a:off x="4343400" y="1280160"/>
            <a:ext cx="4343400" cy="3060649"/>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7040880" cy="731520"/>
          </a:xfrm>
          <a:prstGeom prst="rect">
            <a:avLst/>
          </a:prstGeom>
          <a:noFill/>
          <a:ln/>
        </p:spPr>
        <p:txBody>
          <a:bodyPr wrap="square" lIns="0" tIns="0" rIns="0" bIns="0" rtlCol="0" anchor="ctr"/>
          <a:lstStyle/>
          <a:p>
            <a:pPr algn="l" indent="0" marL="0">
              <a:buNone/>
            </a:pPr>
            <a:r>
              <a:rPr lang="en-US" sz="3400" b="1" dirty="0">
                <a:solidFill>
                  <a:schemeClr val="tx1"/>
                </a:solidFill>
              </a:rPr>
              <a:t>Git and GitHub</a:t>
            </a:r>
            <a:endParaRPr lang="en-US" sz="3400" dirty="0"/>
          </a:p>
        </p:txBody>
      </p:sp>
      <p:sp>
        <p:nvSpPr>
          <p:cNvPr id="3" name="Module chip"/>
          <p:cNvSpPr/>
          <p:nvPr/>
        </p:nvSpPr>
        <p:spPr>
          <a:xfrm>
            <a:off x="7863840" y="502920"/>
            <a:ext cx="822960" cy="365760"/>
          </a:xfrm>
          <a:prstGeom prst="roundRect">
            <a:avLst>
              <a:gd name="adj" fmla="val 50000"/>
            </a:avLst>
          </a:prstGeom>
          <a:solidFill>
            <a:schemeClr val="accent1"/>
          </a:solidFill>
          <a:ln/>
        </p:spPr>
      </p:sp>
      <p:sp>
        <p:nvSpPr>
          <p:cNvPr id="4" name="Module chip label"/>
          <p:cNvSpPr txBox="1"/>
          <p:nvPr/>
        </p:nvSpPr>
        <p:spPr>
          <a:xfrm>
            <a:off x="7863840" y="502920"/>
            <a:ext cx="822960" cy="365760"/>
          </a:xfrm>
          <a:prstGeom prst="rect">
            <a:avLst/>
          </a:prstGeom>
          <a:noFill/>
          <a:ln/>
        </p:spPr>
        <p:txBody>
          <a:bodyPr wrap="square" lIns="0" tIns="0" rIns="0" bIns="0" rtlCol="0" anchor="ctr"/>
          <a:lstStyle/>
          <a:p>
            <a:pPr algn="ctr" indent="0" marL="0">
              <a:buNone/>
            </a:pPr>
            <a:r>
              <a:rPr lang="en-US" sz="1300" b="1" spc="100" kern="0" dirty="0">
                <a:solidFill>
                  <a:schemeClr val="bg1"/>
                </a:solidFill>
              </a:rPr>
              <a:t>M3</a:t>
            </a:r>
            <a:endParaRPr lang="en-US" sz="1300" dirty="0"/>
          </a:p>
        </p:txBody>
      </p:sp>
      <p:sp>
        <p:nvSpPr>
          <p:cNvPr id="6" name="Commit count"/>
          <p:cNvSpPr txBox="1"/>
          <p:nvPr/>
        </p:nvSpPr>
        <p:spPr>
          <a:xfrm>
            <a:off x="457200" y="1143000"/>
            <a:ext cx="3566160" cy="1188720"/>
          </a:xfrm>
          <a:prstGeom prst="rect">
            <a:avLst/>
          </a:prstGeom>
          <a:noFill/>
          <a:ln/>
        </p:spPr>
        <p:txBody>
          <a:bodyPr wrap="square" lIns="0" tIns="0" rIns="0" bIns="0" rtlCol="0" anchor="ctr"/>
          <a:lstStyle/>
          <a:p>
            <a:pPr indent="0" marL="0">
              <a:buNone/>
            </a:pPr>
            <a:r>
              <a:rPr lang="en-US" sz="8000" b="1" dirty="0">
                <a:solidFill>
                  <a:schemeClr val="accent1"/>
                </a:solidFill>
                <a:latin typeface="+mj-lt" pitchFamily="34" charset="0"/>
                <a:ea typeface="+mj-lt" pitchFamily="34" charset="-122"/>
                <a:cs typeface="+mj-lt" pitchFamily="34" charset="-120"/>
              </a:rPr>
              <a:t>10+</a:t>
            </a:r>
            <a:endParaRPr lang="en-US" sz="8000" dirty="0"/>
          </a:p>
        </p:txBody>
      </p:sp>
      <p:sp>
        <p:nvSpPr>
          <p:cNvPr id="7" name="Commit count label"/>
          <p:cNvSpPr txBox="1"/>
          <p:nvPr/>
        </p:nvSpPr>
        <p:spPr>
          <a:xfrm>
            <a:off x="457200" y="2286000"/>
            <a:ext cx="3566160" cy="640080"/>
          </a:xfrm>
          <a:prstGeom prst="rect">
            <a:avLst/>
          </a:prstGeom>
          <a:noFill/>
          <a:ln/>
        </p:spPr>
        <p:txBody>
          <a:bodyPr wrap="square" lIns="0" tIns="0" rIns="0" bIns="0" rtlCol="0" anchor="t"/>
          <a:lstStyle/>
          <a:p>
            <a:pPr indent="0" marL="0">
              <a:buNone/>
            </a:pPr>
            <a:r>
              <a:rPr lang="en-US" sz="1800" b="1" dirty="0">
                <a:solidFill>
                  <a:schemeClr val="tx1"/>
                </a:solidFill>
              </a:rPr>
              <a:t>commits, each message says what it adds</a:t>
            </a:r>
            <a:endParaRPr lang="en-US" sz="1800" dirty="0"/>
          </a:p>
        </p:txBody>
      </p:sp>
      <p:sp>
        <p:nvSpPr>
          <p:cNvPr id="8" name="Git notes"/>
          <p:cNvSpPr txBox="1"/>
          <p:nvPr/>
        </p:nvSpPr>
        <p:spPr>
          <a:xfrm>
            <a:off x="457200" y="3108960"/>
            <a:ext cx="3566160" cy="15087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.gitignore keeps .env, __pycache__, node_modules, .venv, Terraform state and tfvars out</a:t>
            </a:r>
            <a:endParaRPr lang="en-US" sz="1400" dirty="0"/>
          </a:p>
          <a:p>
            <a:pPr marL="203200" indent="-203200">
              <a:spcAft>
                <a:spcPts val="600"/>
              </a:spcAft>
              <a:buSzPct val="100000"/>
              <a:buChar char="•"/>
            </a:pPr>
            <a:r>
              <a:rPr lang="en-US" sz="1400" dirty="0">
                <a:solidFill>
                  <a:schemeClr val="tx1"/>
                </a:solidFill>
              </a:rPr>
              <a:t>Only .env.example is committed</a:t>
            </a:r>
            <a:endParaRPr lang="en-US" sz="1400" dirty="0"/>
          </a:p>
          <a:p>
            <a:pPr marL="203200" indent="-203200">
              <a:spcAft>
                <a:spcPts val="600"/>
              </a:spcAft>
              <a:buSzPct val="100000"/>
              <a:buChar char="•"/>
            </a:pPr>
            <a:r>
              <a:rPr lang="en-US" sz="1400" dirty="0">
                <a:solidFill>
                  <a:schemeClr val="tx1"/>
                </a:solidFill>
              </a:rPr>
              <a:t>No keys or passwords in the repo</a:t>
            </a:r>
            <a:endParaRPr lang="en-US" sz="1400" dirty="0"/>
          </a:p>
        </p:txBody>
      </p:sp>
      <p:pic>
        <p:nvPicPr>
          <p:cNvPr id="9" name="Commit history on GitHub" descr="Commit history on GitHub">    </p:cNvPr>
          <p:cNvPicPr>
            <a:picLocks noChangeAspect="1"/>
          </p:cNvPicPr>
          <p:nvPr/>
        </p:nvPicPr>
        <p:blipFill>
          <a:blip r:embed="rId1"/>
          <a:stretch>
            <a:fillRect/>
          </a:stretch>
        </p:blipFill>
        <p:spPr>
          <a:xfrm>
            <a:off x="4206240" y="1280160"/>
            <a:ext cx="4480560" cy="2697297"/>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7040880" cy="731520"/>
          </a:xfrm>
          <a:prstGeom prst="rect">
            <a:avLst/>
          </a:prstGeom>
          <a:noFill/>
          <a:ln/>
        </p:spPr>
        <p:txBody>
          <a:bodyPr wrap="square" lIns="0" tIns="0" rIns="0" bIns="0" rtlCol="0" anchor="ctr"/>
          <a:lstStyle/>
          <a:p>
            <a:pPr algn="l" indent="0" marL="0">
              <a:buNone/>
            </a:pPr>
            <a:r>
              <a:rPr lang="en-US" sz="3400" b="1" dirty="0">
                <a:solidFill>
                  <a:schemeClr val="tx1"/>
                </a:solidFill>
              </a:rPr>
              <a:t>Docker</a:t>
            </a:r>
            <a:endParaRPr lang="en-US" sz="3400" dirty="0"/>
          </a:p>
        </p:txBody>
      </p:sp>
      <p:sp>
        <p:nvSpPr>
          <p:cNvPr id="3" name="Module chip"/>
          <p:cNvSpPr/>
          <p:nvPr/>
        </p:nvSpPr>
        <p:spPr>
          <a:xfrm>
            <a:off x="7863840" y="502920"/>
            <a:ext cx="822960" cy="365760"/>
          </a:xfrm>
          <a:prstGeom prst="roundRect">
            <a:avLst>
              <a:gd name="adj" fmla="val 50000"/>
            </a:avLst>
          </a:prstGeom>
          <a:solidFill>
            <a:schemeClr val="accent1"/>
          </a:solidFill>
          <a:ln/>
        </p:spPr>
      </p:sp>
      <p:sp>
        <p:nvSpPr>
          <p:cNvPr id="4" name="Module chip label"/>
          <p:cNvSpPr txBox="1"/>
          <p:nvPr/>
        </p:nvSpPr>
        <p:spPr>
          <a:xfrm>
            <a:off x="7863840" y="502920"/>
            <a:ext cx="822960" cy="365760"/>
          </a:xfrm>
          <a:prstGeom prst="rect">
            <a:avLst/>
          </a:prstGeom>
          <a:noFill/>
          <a:ln/>
        </p:spPr>
        <p:txBody>
          <a:bodyPr wrap="square" lIns="0" tIns="0" rIns="0" bIns="0" rtlCol="0" anchor="ctr"/>
          <a:lstStyle/>
          <a:p>
            <a:pPr algn="ctr" indent="0" marL="0">
              <a:buNone/>
            </a:pPr>
            <a:r>
              <a:rPr lang="en-US" sz="1300" b="1" spc="100" kern="0" dirty="0">
                <a:solidFill>
                  <a:schemeClr val="bg1"/>
                </a:solidFill>
              </a:rPr>
              <a:t>M4</a:t>
            </a:r>
            <a:endParaRPr lang="en-US" sz="1300" dirty="0"/>
          </a:p>
        </p:txBody>
      </p:sp>
      <p:sp>
        <p:nvSpPr>
          <p:cNvPr id="6" name="Backend card"/>
          <p:cNvSpPr/>
          <p:nvPr/>
        </p:nvSpPr>
        <p:spPr>
          <a:xfrm>
            <a:off x="457200" y="1280160"/>
            <a:ext cx="3840480" cy="1234440"/>
          </a:xfrm>
          <a:prstGeom prst="roundRect">
            <a:avLst>
              <a:gd name="adj" fmla="val 8889"/>
            </a:avLst>
          </a:prstGeom>
          <a:solidFill>
            <a:schemeClr val="bg2"/>
          </a:solidFill>
          <a:ln/>
        </p:spPr>
      </p:sp>
      <p:sp>
        <p:nvSpPr>
          <p:cNvPr id="7" name="Backend circle"/>
          <p:cNvSpPr/>
          <p:nvPr/>
        </p:nvSpPr>
        <p:spPr>
          <a:xfrm>
            <a:off x="640080" y="1600200"/>
            <a:ext cx="594360" cy="594360"/>
          </a:xfrm>
          <a:prstGeom prst="ellipse">
            <a:avLst/>
          </a:prstGeom>
          <a:solidFill>
            <a:schemeClr val="tx2"/>
          </a:solidFill>
          <a:ln/>
        </p:spPr>
      </p:sp>
      <p:pic>
        <p:nvPicPr>
          <p:cNvPr id="8" name="Backend" descr="Backend">    </p:cNvPr>
          <p:cNvPicPr>
            <a:picLocks noChangeAspect="1"/>
          </p:cNvPicPr>
          <p:nvPr/>
        </p:nvPicPr>
        <p:blipFill>
          <a:blip r:embed="rId1"/>
          <a:stretch>
            <a:fillRect/>
          </a:stretch>
        </p:blipFill>
        <p:spPr>
          <a:xfrm>
            <a:off x="800557" y="1760677"/>
            <a:ext cx="273406" cy="273406"/>
          </a:xfrm>
          <a:prstGeom prst="rect">
            <a:avLst/>
          </a:prstGeom>
        </p:spPr>
      </p:pic>
      <p:sp>
        <p:nvSpPr>
          <p:cNvPr id="9" name="Backend heading"/>
          <p:cNvSpPr txBox="1"/>
          <p:nvPr/>
        </p:nvSpPr>
        <p:spPr>
          <a:xfrm>
            <a:off x="1417320" y="1463040"/>
            <a:ext cx="2743200" cy="320040"/>
          </a:xfrm>
          <a:prstGeom prst="rect">
            <a:avLst/>
          </a:prstGeom>
          <a:noFill/>
          <a:ln/>
        </p:spPr>
        <p:txBody>
          <a:bodyPr wrap="square" lIns="0" tIns="0" rIns="0" bIns="0" rtlCol="0" anchor="t"/>
          <a:lstStyle/>
          <a:p>
            <a:pPr indent="0" marL="0">
              <a:buNone/>
            </a:pPr>
            <a:r>
              <a:rPr lang="en-US" sz="1800" b="1" dirty="0">
                <a:solidFill>
                  <a:schemeClr val="tx1"/>
                </a:solidFill>
              </a:rPr>
              <a:t>Backend</a:t>
            </a:r>
            <a:endParaRPr lang="en-US" sz="1800" dirty="0"/>
          </a:p>
        </p:txBody>
      </p:sp>
      <p:sp>
        <p:nvSpPr>
          <p:cNvPr id="10" name="Backend text"/>
          <p:cNvSpPr txBox="1"/>
          <p:nvPr/>
        </p:nvSpPr>
        <p:spPr>
          <a:xfrm>
            <a:off x="1417320" y="1810512"/>
            <a:ext cx="2743200" cy="640080"/>
          </a:xfrm>
          <a:prstGeom prst="rect">
            <a:avLst/>
          </a:prstGeom>
          <a:noFill/>
          <a:ln/>
        </p:spPr>
        <p:txBody>
          <a:bodyPr wrap="square" lIns="0" tIns="0" rIns="0" bIns="0" rtlCol="0" anchor="t"/>
          <a:lstStyle/>
          <a:p>
            <a:pPr indent="0" marL="0">
              <a:buNone/>
            </a:pPr>
            <a:r>
              <a:rPr lang="en-US" sz="1400" dirty="0">
                <a:solidFill>
                  <a:schemeClr val="tx1"/>
                </a:solidFill>
              </a:rPr>
              <a:t>python:3.12-slim, runs as user 10001</a:t>
            </a:r>
            <a:endParaRPr lang="en-US" sz="1400" dirty="0"/>
          </a:p>
        </p:txBody>
      </p:sp>
      <p:sp>
        <p:nvSpPr>
          <p:cNvPr id="11" name="Frontend card"/>
          <p:cNvSpPr/>
          <p:nvPr/>
        </p:nvSpPr>
        <p:spPr>
          <a:xfrm>
            <a:off x="457200" y="2651760"/>
            <a:ext cx="3840480" cy="1234440"/>
          </a:xfrm>
          <a:prstGeom prst="roundRect">
            <a:avLst>
              <a:gd name="adj" fmla="val 8889"/>
            </a:avLst>
          </a:prstGeom>
          <a:solidFill>
            <a:schemeClr val="bg2"/>
          </a:solidFill>
          <a:ln/>
        </p:spPr>
      </p:sp>
      <p:sp>
        <p:nvSpPr>
          <p:cNvPr id="12" name="Frontend circle"/>
          <p:cNvSpPr/>
          <p:nvPr/>
        </p:nvSpPr>
        <p:spPr>
          <a:xfrm>
            <a:off x="640080" y="2971800"/>
            <a:ext cx="594360" cy="594360"/>
          </a:xfrm>
          <a:prstGeom prst="ellipse">
            <a:avLst/>
          </a:prstGeom>
          <a:solidFill>
            <a:schemeClr val="tx2"/>
          </a:solidFill>
          <a:ln/>
        </p:spPr>
      </p:sp>
      <p:pic>
        <p:nvPicPr>
          <p:cNvPr id="13" name="Frontend" descr="Frontend">    </p:cNvPr>
          <p:cNvPicPr>
            <a:picLocks noChangeAspect="1"/>
          </p:cNvPicPr>
          <p:nvPr/>
        </p:nvPicPr>
        <p:blipFill>
          <a:blip r:embed="rId2"/>
          <a:stretch>
            <a:fillRect/>
          </a:stretch>
        </p:blipFill>
        <p:spPr>
          <a:xfrm>
            <a:off x="800557" y="3132277"/>
            <a:ext cx="273406" cy="273406"/>
          </a:xfrm>
          <a:prstGeom prst="rect">
            <a:avLst/>
          </a:prstGeom>
        </p:spPr>
      </p:pic>
      <p:sp>
        <p:nvSpPr>
          <p:cNvPr id="14" name="Frontend heading"/>
          <p:cNvSpPr txBox="1"/>
          <p:nvPr/>
        </p:nvSpPr>
        <p:spPr>
          <a:xfrm>
            <a:off x="1417320" y="2834640"/>
            <a:ext cx="2743200" cy="320040"/>
          </a:xfrm>
          <a:prstGeom prst="rect">
            <a:avLst/>
          </a:prstGeom>
          <a:noFill/>
          <a:ln/>
        </p:spPr>
        <p:txBody>
          <a:bodyPr wrap="square" lIns="0" tIns="0" rIns="0" bIns="0" rtlCol="0" anchor="t"/>
          <a:lstStyle/>
          <a:p>
            <a:pPr indent="0" marL="0">
              <a:buNone/>
            </a:pPr>
            <a:r>
              <a:rPr lang="en-US" sz="1800" b="1" dirty="0">
                <a:solidFill>
                  <a:schemeClr val="tx1"/>
                </a:solidFill>
              </a:rPr>
              <a:t>Frontend</a:t>
            </a:r>
            <a:endParaRPr lang="en-US" sz="1800" dirty="0"/>
          </a:p>
        </p:txBody>
      </p:sp>
      <p:sp>
        <p:nvSpPr>
          <p:cNvPr id="15" name="Frontend text"/>
          <p:cNvSpPr txBox="1"/>
          <p:nvPr/>
        </p:nvSpPr>
        <p:spPr>
          <a:xfrm>
            <a:off x="1417320" y="3182112"/>
            <a:ext cx="2743200" cy="640080"/>
          </a:xfrm>
          <a:prstGeom prst="rect">
            <a:avLst/>
          </a:prstGeom>
          <a:noFill/>
          <a:ln/>
        </p:spPr>
        <p:txBody>
          <a:bodyPr wrap="square" lIns="0" tIns="0" rIns="0" bIns="0" rtlCol="0" anchor="t"/>
          <a:lstStyle/>
          <a:p>
            <a:pPr indent="0" marL="0">
              <a:buNone/>
            </a:pPr>
            <a:r>
              <a:rPr lang="en-US" sz="1400" dirty="0">
                <a:solidFill>
                  <a:schemeClr val="tx1"/>
                </a:solidFill>
              </a:rPr>
              <a:t>Two stages: Node builds, nginx-unprivileged serves, user 101</a:t>
            </a:r>
            <a:endParaRPr lang="en-US" sz="1400" dirty="0"/>
          </a:p>
        </p:txBody>
      </p:sp>
      <p:sp>
        <p:nvSpPr>
          <p:cNvPr id="16" name="Compose note"/>
          <p:cNvSpPr txBox="1"/>
          <p:nvPr/>
        </p:nvSpPr>
        <p:spPr>
          <a:xfrm>
            <a:off x="457200" y="4023360"/>
            <a:ext cx="3840480" cy="640080"/>
          </a:xfrm>
          <a:prstGeom prst="rect">
            <a:avLst/>
          </a:prstGeom>
          <a:noFill/>
          <a:ln/>
        </p:spPr>
        <p:txBody>
          <a:bodyPr wrap="square" lIns="0" tIns="0" rIns="0" bIns="0" rtlCol="0" anchor="t"/>
          <a:lstStyle/>
          <a:p>
            <a:pPr indent="0" marL="0">
              <a:buNone/>
            </a:pPr>
            <a:r>
              <a:rPr lang="en-US" sz="1400" b="1" dirty="0">
                <a:solidFill>
                  <a:schemeClr val="tx1"/>
                </a:solidFill>
              </a:rPr>
              <a:t>docker compose up --build</a:t>
            </a:r>
            <a:pPr indent="0" marL="0">
              <a:buNone/>
            </a:pPr>
            <a:r>
              <a:rPr lang="en-US" sz="1400" dirty="0">
                <a:solidFill>
                  <a:schemeClr val="tx1"/>
                </a:solidFill>
              </a:rPr>
              <a:t> starts postgres, backend and frontend. The migration runs before the API.</a:t>
            </a:r>
            <a:endParaRPr lang="en-US" sz="1400" dirty="0"/>
          </a:p>
        </p:txBody>
      </p:sp>
      <p:pic>
        <p:nvPicPr>
          <p:cNvPr id="17" name="docker compose up output" descr="docker compose up output">    </p:cNvPr>
          <p:cNvPicPr>
            <a:picLocks noChangeAspect="1"/>
          </p:cNvPicPr>
          <p:nvPr/>
        </p:nvPicPr>
        <p:blipFill>
          <a:blip r:embed="rId3"/>
          <a:stretch>
            <a:fillRect/>
          </a:stretch>
        </p:blipFill>
        <p:spPr>
          <a:xfrm>
            <a:off x="4526280" y="1280160"/>
            <a:ext cx="4160520" cy="293178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7040880" cy="731520"/>
          </a:xfrm>
          <a:prstGeom prst="rect">
            <a:avLst/>
          </a:prstGeom>
          <a:noFill/>
          <a:ln/>
        </p:spPr>
        <p:txBody>
          <a:bodyPr wrap="square" lIns="0" tIns="0" rIns="0" bIns="0" rtlCol="0" anchor="ctr"/>
          <a:lstStyle/>
          <a:p>
            <a:pPr algn="l" indent="0" marL="0">
              <a:buNone/>
            </a:pPr>
            <a:r>
              <a:rPr lang="en-US" sz="3400" b="1" dirty="0">
                <a:solidFill>
                  <a:schemeClr val="tx1"/>
                </a:solidFill>
              </a:rPr>
              <a:t>CI/CD pipeline</a:t>
            </a:r>
            <a:endParaRPr lang="en-US" sz="3400" dirty="0"/>
          </a:p>
        </p:txBody>
      </p:sp>
      <p:sp>
        <p:nvSpPr>
          <p:cNvPr id="3" name="Module chip"/>
          <p:cNvSpPr/>
          <p:nvPr/>
        </p:nvSpPr>
        <p:spPr>
          <a:xfrm>
            <a:off x="7863840" y="502920"/>
            <a:ext cx="822960" cy="365760"/>
          </a:xfrm>
          <a:prstGeom prst="roundRect">
            <a:avLst>
              <a:gd name="adj" fmla="val 50000"/>
            </a:avLst>
          </a:prstGeom>
          <a:solidFill>
            <a:schemeClr val="accent1"/>
          </a:solidFill>
          <a:ln/>
        </p:spPr>
      </p:sp>
      <p:sp>
        <p:nvSpPr>
          <p:cNvPr id="4" name="Module chip label"/>
          <p:cNvSpPr txBox="1"/>
          <p:nvPr/>
        </p:nvSpPr>
        <p:spPr>
          <a:xfrm>
            <a:off x="7863840" y="502920"/>
            <a:ext cx="822960" cy="365760"/>
          </a:xfrm>
          <a:prstGeom prst="rect">
            <a:avLst/>
          </a:prstGeom>
          <a:noFill/>
          <a:ln/>
        </p:spPr>
        <p:txBody>
          <a:bodyPr wrap="square" lIns="0" tIns="0" rIns="0" bIns="0" rtlCol="0" anchor="ctr"/>
          <a:lstStyle/>
          <a:p>
            <a:pPr algn="ctr" indent="0" marL="0">
              <a:buNone/>
            </a:pPr>
            <a:r>
              <a:rPr lang="en-US" sz="1300" b="1" spc="100" kern="0" dirty="0">
                <a:solidFill>
                  <a:schemeClr val="bg1"/>
                </a:solidFill>
              </a:rPr>
              <a:t>M5</a:t>
            </a:r>
            <a:endParaRPr lang="en-US" sz="1300" dirty="0"/>
          </a:p>
        </p:txBody>
      </p:sp>
      <p:sp>
        <p:nvSpPr>
          <p:cNvPr id="6" name="Stage 1 card"/>
          <p:cNvSpPr/>
          <p:nvPr/>
        </p:nvSpPr>
        <p:spPr>
          <a:xfrm>
            <a:off x="457200" y="1280160"/>
            <a:ext cx="1280160" cy="1691640"/>
          </a:xfrm>
          <a:prstGeom prst="roundRect">
            <a:avLst>
              <a:gd name="adj" fmla="val 8571"/>
            </a:avLst>
          </a:prstGeom>
          <a:solidFill>
            <a:schemeClr val="bg2"/>
          </a:solidFill>
          <a:ln/>
        </p:spPr>
      </p:sp>
      <p:sp>
        <p:nvSpPr>
          <p:cNvPr id="7" name="Stage 1 badge"/>
          <p:cNvSpPr/>
          <p:nvPr/>
        </p:nvSpPr>
        <p:spPr>
          <a:xfrm>
            <a:off x="566928" y="1389888"/>
            <a:ext cx="365760" cy="365760"/>
          </a:xfrm>
          <a:prstGeom prst="ellipse">
            <a:avLst/>
          </a:prstGeom>
          <a:solidFill>
            <a:schemeClr val="accent1"/>
          </a:solidFill>
          <a:ln/>
        </p:spPr>
      </p:sp>
      <p:sp>
        <p:nvSpPr>
          <p:cNvPr id="8" name="Stage 1 number"/>
          <p:cNvSpPr txBox="1"/>
          <p:nvPr/>
        </p:nvSpPr>
        <p:spPr>
          <a:xfrm>
            <a:off x="566928" y="13898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Stage 1 name"/>
          <p:cNvSpPr txBox="1"/>
          <p:nvPr/>
        </p:nvSpPr>
        <p:spPr>
          <a:xfrm>
            <a:off x="566928" y="1828800"/>
            <a:ext cx="1097280" cy="320040"/>
          </a:xfrm>
          <a:prstGeom prst="rect">
            <a:avLst/>
          </a:prstGeom>
          <a:noFill/>
          <a:ln/>
        </p:spPr>
        <p:txBody>
          <a:bodyPr wrap="square" lIns="0" tIns="0" rIns="0" bIns="0" rtlCol="0" anchor="t"/>
          <a:lstStyle/>
          <a:p>
            <a:pPr indent="0" marL="0">
              <a:buNone/>
            </a:pPr>
            <a:r>
              <a:rPr lang="en-US" sz="1600" b="1" dirty="0">
                <a:solidFill>
                  <a:schemeClr val="tx1"/>
                </a:solidFill>
              </a:rPr>
              <a:t>test</a:t>
            </a:r>
            <a:endParaRPr lang="en-US" sz="1600" dirty="0"/>
          </a:p>
        </p:txBody>
      </p:sp>
      <p:sp>
        <p:nvSpPr>
          <p:cNvPr id="10" name="Stage 1 desc"/>
          <p:cNvSpPr txBox="1"/>
          <p:nvPr/>
        </p:nvSpPr>
        <p:spPr>
          <a:xfrm>
            <a:off x="566928" y="2176272"/>
            <a:ext cx="1078992" cy="548640"/>
          </a:xfrm>
          <a:prstGeom prst="rect">
            <a:avLst/>
          </a:prstGeom>
          <a:noFill/>
          <a:ln/>
        </p:spPr>
        <p:txBody>
          <a:bodyPr wrap="square" lIns="0" tIns="0" rIns="0" bIns="0" rtlCol="0" anchor="t"/>
          <a:lstStyle/>
          <a:p>
            <a:pPr indent="0" marL="0">
              <a:buNone/>
            </a:pPr>
            <a:r>
              <a:rPr lang="en-US" sz="1400" dirty="0">
                <a:solidFill>
                  <a:schemeClr val="accent4"/>
                </a:solidFill>
              </a:rPr>
              <a:t>pytest fails the build</a:t>
            </a:r>
            <a:endParaRPr lang="en-US" sz="1400" dirty="0"/>
          </a:p>
        </p:txBody>
      </p:sp>
      <p:sp>
        <p:nvSpPr>
          <p:cNvPr id="11" name="Stage 2 card"/>
          <p:cNvSpPr/>
          <p:nvPr/>
        </p:nvSpPr>
        <p:spPr>
          <a:xfrm>
            <a:off x="1847088" y="1280160"/>
            <a:ext cx="1280160" cy="1691640"/>
          </a:xfrm>
          <a:prstGeom prst="roundRect">
            <a:avLst>
              <a:gd name="adj" fmla="val 8571"/>
            </a:avLst>
          </a:prstGeom>
          <a:solidFill>
            <a:schemeClr val="bg2"/>
          </a:solidFill>
          <a:ln/>
        </p:spPr>
      </p:sp>
      <p:sp>
        <p:nvSpPr>
          <p:cNvPr id="12" name="Stage 2 badge"/>
          <p:cNvSpPr/>
          <p:nvPr/>
        </p:nvSpPr>
        <p:spPr>
          <a:xfrm>
            <a:off x="1956816" y="1389888"/>
            <a:ext cx="365760" cy="365760"/>
          </a:xfrm>
          <a:prstGeom prst="ellipse">
            <a:avLst/>
          </a:prstGeom>
          <a:solidFill>
            <a:schemeClr val="accent1"/>
          </a:solidFill>
          <a:ln/>
        </p:spPr>
      </p:sp>
      <p:sp>
        <p:nvSpPr>
          <p:cNvPr id="13" name="Stage 2 number"/>
          <p:cNvSpPr txBox="1"/>
          <p:nvPr/>
        </p:nvSpPr>
        <p:spPr>
          <a:xfrm>
            <a:off x="1956816" y="13898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Stage 2 name"/>
          <p:cNvSpPr txBox="1"/>
          <p:nvPr/>
        </p:nvSpPr>
        <p:spPr>
          <a:xfrm>
            <a:off x="1956816" y="1828800"/>
            <a:ext cx="1097280" cy="320040"/>
          </a:xfrm>
          <a:prstGeom prst="rect">
            <a:avLst/>
          </a:prstGeom>
          <a:noFill/>
          <a:ln/>
        </p:spPr>
        <p:txBody>
          <a:bodyPr wrap="square" lIns="0" tIns="0" rIns="0" bIns="0" rtlCol="0" anchor="t"/>
          <a:lstStyle/>
          <a:p>
            <a:pPr indent="0" marL="0">
              <a:buNone/>
            </a:pPr>
            <a:r>
              <a:rPr lang="en-US" sz="1600" b="1" dirty="0">
                <a:solidFill>
                  <a:schemeClr val="tx1"/>
                </a:solidFill>
              </a:rPr>
              <a:t>frontend</a:t>
            </a:r>
            <a:endParaRPr lang="en-US" sz="1600" dirty="0"/>
          </a:p>
        </p:txBody>
      </p:sp>
      <p:sp>
        <p:nvSpPr>
          <p:cNvPr id="15" name="Stage 2 desc"/>
          <p:cNvSpPr txBox="1"/>
          <p:nvPr/>
        </p:nvSpPr>
        <p:spPr>
          <a:xfrm>
            <a:off x="1956816" y="2176272"/>
            <a:ext cx="1078992" cy="548640"/>
          </a:xfrm>
          <a:prstGeom prst="rect">
            <a:avLst/>
          </a:prstGeom>
          <a:noFill/>
          <a:ln/>
        </p:spPr>
        <p:txBody>
          <a:bodyPr wrap="square" lIns="0" tIns="0" rIns="0" bIns="0" rtlCol="0" anchor="t"/>
          <a:lstStyle/>
          <a:p>
            <a:pPr indent="0" marL="0">
              <a:buNone/>
            </a:pPr>
            <a:r>
              <a:rPr lang="en-US" sz="1400" dirty="0">
                <a:solidFill>
                  <a:schemeClr val="accent4"/>
                </a:solidFill>
              </a:rPr>
              <a:t>npm run build</a:t>
            </a:r>
            <a:endParaRPr lang="en-US" sz="1400" dirty="0"/>
          </a:p>
        </p:txBody>
      </p:sp>
      <p:sp>
        <p:nvSpPr>
          <p:cNvPr id="16" name="Stage 3 card"/>
          <p:cNvSpPr/>
          <p:nvPr/>
        </p:nvSpPr>
        <p:spPr>
          <a:xfrm>
            <a:off x="3236976" y="1280160"/>
            <a:ext cx="1280160" cy="1691640"/>
          </a:xfrm>
          <a:prstGeom prst="roundRect">
            <a:avLst>
              <a:gd name="adj" fmla="val 8571"/>
            </a:avLst>
          </a:prstGeom>
          <a:solidFill>
            <a:schemeClr val="bg2"/>
          </a:solidFill>
          <a:ln/>
        </p:spPr>
      </p:sp>
      <p:sp>
        <p:nvSpPr>
          <p:cNvPr id="17" name="Stage 3 badge"/>
          <p:cNvSpPr/>
          <p:nvPr/>
        </p:nvSpPr>
        <p:spPr>
          <a:xfrm>
            <a:off x="3346704" y="1389888"/>
            <a:ext cx="365760" cy="365760"/>
          </a:xfrm>
          <a:prstGeom prst="ellipse">
            <a:avLst/>
          </a:prstGeom>
          <a:solidFill>
            <a:schemeClr val="accent1"/>
          </a:solidFill>
          <a:ln/>
        </p:spPr>
      </p:sp>
      <p:sp>
        <p:nvSpPr>
          <p:cNvPr id="18" name="Stage 3 number"/>
          <p:cNvSpPr txBox="1"/>
          <p:nvPr/>
        </p:nvSpPr>
        <p:spPr>
          <a:xfrm>
            <a:off x="3346704" y="13898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Stage 3 name"/>
          <p:cNvSpPr txBox="1"/>
          <p:nvPr/>
        </p:nvSpPr>
        <p:spPr>
          <a:xfrm>
            <a:off x="3346704" y="1828800"/>
            <a:ext cx="1097280" cy="320040"/>
          </a:xfrm>
          <a:prstGeom prst="rect">
            <a:avLst/>
          </a:prstGeom>
          <a:noFill/>
          <a:ln/>
        </p:spPr>
        <p:txBody>
          <a:bodyPr wrap="square" lIns="0" tIns="0" rIns="0" bIns="0" rtlCol="0" anchor="t"/>
          <a:lstStyle/>
          <a:p>
            <a:pPr indent="0" marL="0">
              <a:buNone/>
            </a:pPr>
            <a:r>
              <a:rPr lang="en-US" sz="1600" b="1" dirty="0">
                <a:solidFill>
                  <a:schemeClr val="tx1"/>
                </a:solidFill>
              </a:rPr>
              <a:t>image</a:t>
            </a:r>
            <a:endParaRPr lang="en-US" sz="1600" dirty="0"/>
          </a:p>
        </p:txBody>
      </p:sp>
      <p:sp>
        <p:nvSpPr>
          <p:cNvPr id="20" name="Stage 3 desc"/>
          <p:cNvSpPr txBox="1"/>
          <p:nvPr/>
        </p:nvSpPr>
        <p:spPr>
          <a:xfrm>
            <a:off x="3346704" y="2176272"/>
            <a:ext cx="1078992" cy="548640"/>
          </a:xfrm>
          <a:prstGeom prst="rect">
            <a:avLst/>
          </a:prstGeom>
          <a:noFill/>
          <a:ln/>
        </p:spPr>
        <p:txBody>
          <a:bodyPr wrap="square" lIns="0" tIns="0" rIns="0" bIns="0" rtlCol="0" anchor="t"/>
          <a:lstStyle/>
          <a:p>
            <a:pPr indent="0" marL="0">
              <a:buNone/>
            </a:pPr>
            <a:r>
              <a:rPr lang="en-US" sz="1400" dirty="0">
                <a:solidFill>
                  <a:schemeClr val="accent4"/>
                </a:solidFill>
              </a:rPr>
              <a:t>build both images</a:t>
            </a:r>
            <a:endParaRPr lang="en-US" sz="1400" dirty="0"/>
          </a:p>
        </p:txBody>
      </p:sp>
      <p:sp>
        <p:nvSpPr>
          <p:cNvPr id="21" name="Stage 4 card"/>
          <p:cNvSpPr/>
          <p:nvPr/>
        </p:nvSpPr>
        <p:spPr>
          <a:xfrm>
            <a:off x="4626864" y="1280160"/>
            <a:ext cx="1280160" cy="1691640"/>
          </a:xfrm>
          <a:prstGeom prst="roundRect">
            <a:avLst>
              <a:gd name="adj" fmla="val 8571"/>
            </a:avLst>
          </a:prstGeom>
          <a:solidFill>
            <a:schemeClr val="bg2"/>
          </a:solidFill>
          <a:ln/>
        </p:spPr>
      </p:sp>
      <p:sp>
        <p:nvSpPr>
          <p:cNvPr id="22" name="Stage 4 badge"/>
          <p:cNvSpPr/>
          <p:nvPr/>
        </p:nvSpPr>
        <p:spPr>
          <a:xfrm>
            <a:off x="4736592" y="1389888"/>
            <a:ext cx="365760" cy="365760"/>
          </a:xfrm>
          <a:prstGeom prst="ellipse">
            <a:avLst/>
          </a:prstGeom>
          <a:solidFill>
            <a:schemeClr val="accent1"/>
          </a:solidFill>
          <a:ln/>
        </p:spPr>
      </p:sp>
      <p:sp>
        <p:nvSpPr>
          <p:cNvPr id="23" name="Stage 4 number"/>
          <p:cNvSpPr txBox="1"/>
          <p:nvPr/>
        </p:nvSpPr>
        <p:spPr>
          <a:xfrm>
            <a:off x="4736592" y="13898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Stage 4 name"/>
          <p:cNvSpPr txBox="1"/>
          <p:nvPr/>
        </p:nvSpPr>
        <p:spPr>
          <a:xfrm>
            <a:off x="4736592" y="1828800"/>
            <a:ext cx="1097280" cy="320040"/>
          </a:xfrm>
          <a:prstGeom prst="rect">
            <a:avLst/>
          </a:prstGeom>
          <a:noFill/>
          <a:ln/>
        </p:spPr>
        <p:txBody>
          <a:bodyPr wrap="square" lIns="0" tIns="0" rIns="0" bIns="0" rtlCol="0" anchor="t"/>
          <a:lstStyle/>
          <a:p>
            <a:pPr indent="0" marL="0">
              <a:buNone/>
            </a:pPr>
            <a:r>
              <a:rPr lang="en-US" sz="1600" b="1" dirty="0">
                <a:solidFill>
                  <a:schemeClr val="tx1"/>
                </a:solidFill>
              </a:rPr>
              <a:t>Trivy</a:t>
            </a:r>
            <a:endParaRPr lang="en-US" sz="1600" dirty="0"/>
          </a:p>
        </p:txBody>
      </p:sp>
      <p:sp>
        <p:nvSpPr>
          <p:cNvPr id="25" name="Stage 4 desc"/>
          <p:cNvSpPr txBox="1"/>
          <p:nvPr/>
        </p:nvSpPr>
        <p:spPr>
          <a:xfrm>
            <a:off x="4736592" y="2176272"/>
            <a:ext cx="1078992" cy="548640"/>
          </a:xfrm>
          <a:prstGeom prst="rect">
            <a:avLst/>
          </a:prstGeom>
          <a:noFill/>
          <a:ln/>
        </p:spPr>
        <p:txBody>
          <a:bodyPr wrap="square" lIns="0" tIns="0" rIns="0" bIns="0" rtlCol="0" anchor="t"/>
          <a:lstStyle/>
          <a:p>
            <a:pPr indent="0" marL="0">
              <a:buNone/>
            </a:pPr>
            <a:r>
              <a:rPr lang="en-US" sz="1400" dirty="0">
                <a:solidFill>
                  <a:schemeClr val="accent4"/>
                </a:solidFill>
              </a:rPr>
              <a:t>HIGH and CRITICAL gate</a:t>
            </a:r>
            <a:endParaRPr lang="en-US" sz="1400" dirty="0"/>
          </a:p>
        </p:txBody>
      </p:sp>
      <p:sp>
        <p:nvSpPr>
          <p:cNvPr id="26" name="Stage 5 card"/>
          <p:cNvSpPr/>
          <p:nvPr/>
        </p:nvSpPr>
        <p:spPr>
          <a:xfrm>
            <a:off x="6016752" y="1280160"/>
            <a:ext cx="1280160" cy="1691640"/>
          </a:xfrm>
          <a:prstGeom prst="roundRect">
            <a:avLst>
              <a:gd name="adj" fmla="val 8571"/>
            </a:avLst>
          </a:prstGeom>
          <a:solidFill>
            <a:schemeClr val="bg2"/>
          </a:solidFill>
          <a:ln/>
        </p:spPr>
      </p:sp>
      <p:sp>
        <p:nvSpPr>
          <p:cNvPr id="27" name="Stage 5 badge"/>
          <p:cNvSpPr/>
          <p:nvPr/>
        </p:nvSpPr>
        <p:spPr>
          <a:xfrm>
            <a:off x="6126480" y="1389888"/>
            <a:ext cx="365760" cy="365760"/>
          </a:xfrm>
          <a:prstGeom prst="ellipse">
            <a:avLst/>
          </a:prstGeom>
          <a:solidFill>
            <a:schemeClr val="accent1"/>
          </a:solidFill>
          <a:ln/>
        </p:spPr>
      </p:sp>
      <p:sp>
        <p:nvSpPr>
          <p:cNvPr id="28" name="Stage 5 number"/>
          <p:cNvSpPr txBox="1"/>
          <p:nvPr/>
        </p:nvSpPr>
        <p:spPr>
          <a:xfrm>
            <a:off x="6126480" y="13898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9" name="Stage 5 name"/>
          <p:cNvSpPr txBox="1"/>
          <p:nvPr/>
        </p:nvSpPr>
        <p:spPr>
          <a:xfrm>
            <a:off x="6126480" y="1828800"/>
            <a:ext cx="1097280" cy="320040"/>
          </a:xfrm>
          <a:prstGeom prst="rect">
            <a:avLst/>
          </a:prstGeom>
          <a:noFill/>
          <a:ln/>
        </p:spPr>
        <p:txBody>
          <a:bodyPr wrap="square" lIns="0" tIns="0" rIns="0" bIns="0" rtlCol="0" anchor="t"/>
          <a:lstStyle/>
          <a:p>
            <a:pPr indent="0" marL="0">
              <a:buNone/>
            </a:pPr>
            <a:r>
              <a:rPr lang="en-US" sz="1600" b="1" dirty="0">
                <a:solidFill>
                  <a:schemeClr val="tx1"/>
                </a:solidFill>
              </a:rPr>
              <a:t>push</a:t>
            </a:r>
            <a:endParaRPr lang="en-US" sz="1600" dirty="0"/>
          </a:p>
        </p:txBody>
      </p:sp>
      <p:sp>
        <p:nvSpPr>
          <p:cNvPr id="30" name="Stage 5 desc"/>
          <p:cNvSpPr txBox="1"/>
          <p:nvPr/>
        </p:nvSpPr>
        <p:spPr>
          <a:xfrm>
            <a:off x="6126480" y="2176272"/>
            <a:ext cx="1078992" cy="548640"/>
          </a:xfrm>
          <a:prstGeom prst="rect">
            <a:avLst/>
          </a:prstGeom>
          <a:noFill/>
          <a:ln/>
        </p:spPr>
        <p:txBody>
          <a:bodyPr wrap="square" lIns="0" tIns="0" rIns="0" bIns="0" rtlCol="0" anchor="t"/>
          <a:lstStyle/>
          <a:p>
            <a:pPr indent="0" marL="0">
              <a:buNone/>
            </a:pPr>
            <a:r>
              <a:rPr lang="en-US" sz="1400" dirty="0">
                <a:solidFill>
                  <a:schemeClr val="accent4"/>
                </a:solidFill>
              </a:rPr>
              <a:t>GHCR, SHA tag</a:t>
            </a:r>
            <a:endParaRPr lang="en-US" sz="1400" dirty="0"/>
          </a:p>
        </p:txBody>
      </p:sp>
      <p:sp>
        <p:nvSpPr>
          <p:cNvPr id="31" name="Stage 6 card"/>
          <p:cNvSpPr/>
          <p:nvPr/>
        </p:nvSpPr>
        <p:spPr>
          <a:xfrm>
            <a:off x="7406640" y="1280160"/>
            <a:ext cx="1280160" cy="1691640"/>
          </a:xfrm>
          <a:prstGeom prst="roundRect">
            <a:avLst>
              <a:gd name="adj" fmla="val 8571"/>
            </a:avLst>
          </a:prstGeom>
          <a:solidFill>
            <a:schemeClr val="bg1"/>
          </a:solidFill>
          <a:ln w="12700">
            <a:solidFill>
              <a:schemeClr val="accent4"/>
            </a:solidFill>
            <a:prstDash val="dash"/>
          </a:ln>
        </p:spPr>
      </p:sp>
      <p:sp>
        <p:nvSpPr>
          <p:cNvPr id="32" name="Stage 6 badge"/>
          <p:cNvSpPr/>
          <p:nvPr/>
        </p:nvSpPr>
        <p:spPr>
          <a:xfrm>
            <a:off x="7516368" y="1389888"/>
            <a:ext cx="365760" cy="365760"/>
          </a:xfrm>
          <a:prstGeom prst="ellipse">
            <a:avLst/>
          </a:prstGeom>
          <a:solidFill>
            <a:schemeClr val="accent4"/>
          </a:solidFill>
          <a:ln/>
        </p:spPr>
      </p:sp>
      <p:sp>
        <p:nvSpPr>
          <p:cNvPr id="33" name="Stage 6 number"/>
          <p:cNvSpPr txBox="1"/>
          <p:nvPr/>
        </p:nvSpPr>
        <p:spPr>
          <a:xfrm>
            <a:off x="7516368" y="13898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4" name="Stage 6 name"/>
          <p:cNvSpPr txBox="1"/>
          <p:nvPr/>
        </p:nvSpPr>
        <p:spPr>
          <a:xfrm>
            <a:off x="7516368" y="1828800"/>
            <a:ext cx="1097280" cy="320040"/>
          </a:xfrm>
          <a:prstGeom prst="rect">
            <a:avLst/>
          </a:prstGeom>
          <a:noFill/>
          <a:ln/>
        </p:spPr>
        <p:txBody>
          <a:bodyPr wrap="square" lIns="0" tIns="0" rIns="0" bIns="0" rtlCol="0" anchor="t"/>
          <a:lstStyle/>
          <a:p>
            <a:pPr indent="0" marL="0">
              <a:buNone/>
            </a:pPr>
            <a:r>
              <a:rPr lang="en-US" sz="1600" b="1" dirty="0">
                <a:solidFill>
                  <a:schemeClr val="tx1"/>
                </a:solidFill>
              </a:rPr>
              <a:t>deploy</a:t>
            </a:r>
            <a:endParaRPr lang="en-US" sz="1600" dirty="0"/>
          </a:p>
        </p:txBody>
      </p:sp>
      <p:sp>
        <p:nvSpPr>
          <p:cNvPr id="35" name="Stage 6 desc"/>
          <p:cNvSpPr txBox="1"/>
          <p:nvPr/>
        </p:nvSpPr>
        <p:spPr>
          <a:xfrm>
            <a:off x="7516368" y="2176272"/>
            <a:ext cx="1078992" cy="548640"/>
          </a:xfrm>
          <a:prstGeom prst="rect">
            <a:avLst/>
          </a:prstGeom>
          <a:noFill/>
          <a:ln/>
        </p:spPr>
        <p:txBody>
          <a:bodyPr wrap="square" lIns="0" tIns="0" rIns="0" bIns="0" rtlCol="0" anchor="t"/>
          <a:lstStyle/>
          <a:p>
            <a:pPr indent="0" marL="0">
              <a:buNone/>
            </a:pPr>
            <a:r>
              <a:rPr lang="en-US" sz="1400" dirty="0">
                <a:solidFill>
                  <a:schemeClr val="accent4"/>
                </a:solidFill>
              </a:rPr>
              <a:t>helm upgrade, opt-in</a:t>
            </a:r>
            <a:endParaRPr lang="en-US" sz="1400" dirty="0"/>
          </a:p>
        </p:txBody>
      </p:sp>
      <p:sp>
        <p:nvSpPr>
          <p:cNvPr id="36" name="Check 1 circle"/>
          <p:cNvSpPr/>
          <p:nvPr/>
        </p:nvSpPr>
        <p:spPr>
          <a:xfrm>
            <a:off x="457200" y="3273552"/>
            <a:ext cx="329184" cy="329184"/>
          </a:xfrm>
          <a:prstGeom prst="ellipse">
            <a:avLst/>
          </a:prstGeom>
          <a:solidFill>
            <a:schemeClr val="accent3"/>
          </a:solidFill>
          <a:ln/>
        </p:spPr>
      </p:sp>
      <p:pic>
        <p:nvPicPr>
          <p:cNvPr id="37" name="Check 1" descr="Check 1">    </p:cNvPr>
          <p:cNvPicPr>
            <a:picLocks noChangeAspect="1"/>
          </p:cNvPicPr>
          <p:nvPr/>
        </p:nvPicPr>
        <p:blipFill>
          <a:blip r:embed="rId1"/>
          <a:stretch>
            <a:fillRect/>
          </a:stretch>
        </p:blipFill>
        <p:spPr>
          <a:xfrm>
            <a:off x="546080" y="3362432"/>
            <a:ext cx="151425" cy="151425"/>
          </a:xfrm>
          <a:prstGeom prst="rect">
            <a:avLst/>
          </a:prstGeom>
        </p:spPr>
      </p:pic>
      <p:sp>
        <p:nvSpPr>
          <p:cNvPr id="38" name="Pipeline fact 1"/>
          <p:cNvSpPr txBox="1"/>
          <p:nvPr/>
        </p:nvSpPr>
        <p:spPr>
          <a:xfrm>
            <a:off x="960120" y="3246120"/>
            <a:ext cx="7680960" cy="438912"/>
          </a:xfrm>
          <a:prstGeom prst="rect">
            <a:avLst/>
          </a:prstGeom>
          <a:noFill/>
          <a:ln/>
        </p:spPr>
        <p:txBody>
          <a:bodyPr wrap="square" lIns="0" tIns="0" rIns="0" bIns="0" rtlCol="0" anchor="ctr"/>
          <a:lstStyle/>
          <a:p>
            <a:pPr indent="0" marL="0">
              <a:buNone/>
            </a:pPr>
            <a:r>
              <a:rPr lang="en-US" sz="1400" b="1" dirty="0">
                <a:solidFill>
                  <a:schemeClr val="tx1"/>
                </a:solidFill>
              </a:rPr>
              <a:t>Runs on every push to main</a:t>
            </a:r>
            <a:pPr indent="0" marL="0">
              <a:buNone/>
            </a:pPr>
            <a:r>
              <a:rPr lang="en-US" sz="1400" dirty="0">
                <a:solidFill>
                  <a:schemeClr val="tx1"/>
                </a:solidFill>
              </a:rPr>
              <a:t> and on pull requests.</a:t>
            </a:r>
            <a:endParaRPr lang="en-US" sz="1400" dirty="0"/>
          </a:p>
        </p:txBody>
      </p:sp>
      <p:sp>
        <p:nvSpPr>
          <p:cNvPr id="39" name="Check 2 circle"/>
          <p:cNvSpPr/>
          <p:nvPr/>
        </p:nvSpPr>
        <p:spPr>
          <a:xfrm>
            <a:off x="457200" y="3749040"/>
            <a:ext cx="329184" cy="329184"/>
          </a:xfrm>
          <a:prstGeom prst="ellipse">
            <a:avLst/>
          </a:prstGeom>
          <a:solidFill>
            <a:schemeClr val="accent3"/>
          </a:solidFill>
          <a:ln/>
        </p:spPr>
      </p:sp>
      <p:pic>
        <p:nvPicPr>
          <p:cNvPr id="40" name="Check 2" descr="Check 2">    </p:cNvPr>
          <p:cNvPicPr>
            <a:picLocks noChangeAspect="1"/>
          </p:cNvPicPr>
          <p:nvPr/>
        </p:nvPicPr>
        <p:blipFill>
          <a:blip r:embed="rId2"/>
          <a:stretch>
            <a:fillRect/>
          </a:stretch>
        </p:blipFill>
        <p:spPr>
          <a:xfrm>
            <a:off x="546080" y="3837920"/>
            <a:ext cx="151425" cy="151425"/>
          </a:xfrm>
          <a:prstGeom prst="rect">
            <a:avLst/>
          </a:prstGeom>
        </p:spPr>
      </p:pic>
      <p:sp>
        <p:nvSpPr>
          <p:cNvPr id="41" name="Pipeline fact 2"/>
          <p:cNvSpPr txBox="1"/>
          <p:nvPr/>
        </p:nvSpPr>
        <p:spPr>
          <a:xfrm>
            <a:off x="960120" y="3721608"/>
            <a:ext cx="7680960" cy="438912"/>
          </a:xfrm>
          <a:prstGeom prst="rect">
            <a:avLst/>
          </a:prstGeom>
          <a:noFill/>
          <a:ln/>
        </p:spPr>
        <p:txBody>
          <a:bodyPr wrap="square" lIns="0" tIns="0" rIns="0" bIns="0" rtlCol="0" anchor="ctr"/>
          <a:lstStyle/>
          <a:p>
            <a:pPr indent="0" marL="0">
              <a:buNone/>
            </a:pPr>
            <a:r>
              <a:rPr lang="en-US" sz="1400" b="1" dirty="0">
                <a:solidFill>
                  <a:schemeClr val="tx1"/>
                </a:solidFill>
              </a:rPr>
              <a:t>A failing test or a fixable HIGH or CRITICAL CVE</a:t>
            </a:r>
            <a:pPr indent="0" marL="0">
              <a:buNone/>
            </a:pPr>
            <a:r>
              <a:rPr lang="en-US" sz="1400" dirty="0">
                <a:solidFill>
                  <a:schemeClr val="tx1"/>
                </a:solidFill>
              </a:rPr>
              <a:t> stops the pipeline before anything is pushed.</a:t>
            </a:r>
            <a:endParaRPr lang="en-US" sz="1400" dirty="0"/>
          </a:p>
        </p:txBody>
      </p:sp>
      <p:sp>
        <p:nvSpPr>
          <p:cNvPr id="42" name="Check 3 circle"/>
          <p:cNvSpPr/>
          <p:nvPr/>
        </p:nvSpPr>
        <p:spPr>
          <a:xfrm>
            <a:off x="457200" y="4224528"/>
            <a:ext cx="329184" cy="329184"/>
          </a:xfrm>
          <a:prstGeom prst="ellipse">
            <a:avLst/>
          </a:prstGeom>
          <a:solidFill>
            <a:schemeClr val="accent3"/>
          </a:solidFill>
          <a:ln/>
        </p:spPr>
      </p:sp>
      <p:pic>
        <p:nvPicPr>
          <p:cNvPr id="43" name="Check 3" descr="Check 3">    </p:cNvPr>
          <p:cNvPicPr>
            <a:picLocks noChangeAspect="1"/>
          </p:cNvPicPr>
          <p:nvPr/>
        </p:nvPicPr>
        <p:blipFill>
          <a:blip r:embed="rId3"/>
          <a:stretch>
            <a:fillRect/>
          </a:stretch>
        </p:blipFill>
        <p:spPr>
          <a:xfrm>
            <a:off x="546080" y="4313408"/>
            <a:ext cx="151425" cy="151425"/>
          </a:xfrm>
          <a:prstGeom prst="rect">
            <a:avLst/>
          </a:prstGeom>
        </p:spPr>
      </p:pic>
      <p:sp>
        <p:nvSpPr>
          <p:cNvPr id="44" name="Pipeline fact 3"/>
          <p:cNvSpPr txBox="1"/>
          <p:nvPr/>
        </p:nvSpPr>
        <p:spPr>
          <a:xfrm>
            <a:off x="960120" y="4197096"/>
            <a:ext cx="7680960" cy="438912"/>
          </a:xfrm>
          <a:prstGeom prst="rect">
            <a:avLst/>
          </a:prstGeom>
          <a:noFill/>
          <a:ln/>
        </p:spPr>
        <p:txBody>
          <a:bodyPr wrap="square" lIns="0" tIns="0" rIns="0" bIns="0" rtlCol="0" anchor="ctr"/>
          <a:lstStyle/>
          <a:p>
            <a:pPr indent="0" marL="0">
              <a:buNone/>
            </a:pPr>
            <a:r>
              <a:rPr lang="en-US" sz="1400" b="1" dirty="0">
                <a:solidFill>
                  <a:schemeClr val="tx1"/>
                </a:solidFill>
              </a:rPr>
              <a:t>Images are tagged with the commit SHA, never latest.</a:t>
            </a:r>
            <a:pPr indent="0" marL="0">
              <a:buNone/>
            </a:pPr>
            <a:r>
              <a:rPr lang="en-US" sz="1400" dirty="0">
                <a:solidFill>
                  <a:schemeClr val="tx1"/>
                </a:solidFill>
              </a:rPr>
              <a:t> Actions are pinned to commit SHAs; only the image job can write packages.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7040880" cy="731520"/>
          </a:xfrm>
          <a:prstGeom prst="rect">
            <a:avLst/>
          </a:prstGeom>
          <a:noFill/>
          <a:ln/>
        </p:spPr>
        <p:txBody>
          <a:bodyPr wrap="square" lIns="0" tIns="0" rIns="0" bIns="0" rtlCol="0" anchor="ctr"/>
          <a:lstStyle/>
          <a:p>
            <a:pPr algn="l" indent="0" marL="0">
              <a:buNone/>
            </a:pPr>
            <a:r>
              <a:rPr lang="en-US" sz="3400" b="1" dirty="0">
                <a:solidFill>
                  <a:schemeClr val="tx1"/>
                </a:solidFill>
              </a:rPr>
              <a:t>Pipeline run and GHCR</a:t>
            </a:r>
            <a:endParaRPr lang="en-US" sz="3400" dirty="0"/>
          </a:p>
        </p:txBody>
      </p:sp>
      <p:sp>
        <p:nvSpPr>
          <p:cNvPr id="3" name="Module chip"/>
          <p:cNvSpPr/>
          <p:nvPr/>
        </p:nvSpPr>
        <p:spPr>
          <a:xfrm>
            <a:off x="7863840" y="502920"/>
            <a:ext cx="822960" cy="365760"/>
          </a:xfrm>
          <a:prstGeom prst="roundRect">
            <a:avLst>
              <a:gd name="adj" fmla="val 50000"/>
            </a:avLst>
          </a:prstGeom>
          <a:solidFill>
            <a:schemeClr val="accent1"/>
          </a:solidFill>
          <a:ln/>
        </p:spPr>
      </p:sp>
      <p:sp>
        <p:nvSpPr>
          <p:cNvPr id="4" name="Module chip label"/>
          <p:cNvSpPr txBox="1"/>
          <p:nvPr/>
        </p:nvSpPr>
        <p:spPr>
          <a:xfrm>
            <a:off x="7863840" y="502920"/>
            <a:ext cx="822960" cy="365760"/>
          </a:xfrm>
          <a:prstGeom prst="rect">
            <a:avLst/>
          </a:prstGeom>
          <a:noFill/>
          <a:ln/>
        </p:spPr>
        <p:txBody>
          <a:bodyPr wrap="square" lIns="0" tIns="0" rIns="0" bIns="0" rtlCol="0" anchor="ctr"/>
          <a:lstStyle/>
          <a:p>
            <a:pPr algn="ctr" indent="0" marL="0">
              <a:buNone/>
            </a:pPr>
            <a:r>
              <a:rPr lang="en-US" sz="1300" b="1" spc="100" kern="0" dirty="0">
                <a:solidFill>
                  <a:schemeClr val="bg1"/>
                </a:solidFill>
              </a:rPr>
              <a:t>M5</a:t>
            </a:r>
            <a:endParaRPr lang="en-US" sz="1300" dirty="0"/>
          </a:p>
        </p:txBody>
      </p:sp>
      <p:pic>
        <p:nvPicPr>
          <p:cNvPr id="6" name="Passing GitHub Actions run" descr="Passing GitHub Actions run">    </p:cNvPr>
          <p:cNvPicPr>
            <a:picLocks noChangeAspect="1"/>
          </p:cNvPicPr>
          <p:nvPr/>
        </p:nvPicPr>
        <p:blipFill>
          <a:blip r:embed="rId1"/>
          <a:stretch>
            <a:fillRect/>
          </a:stretch>
        </p:blipFill>
        <p:spPr>
          <a:xfrm>
            <a:off x="457200" y="1280160"/>
            <a:ext cx="4846320" cy="2917485"/>
          </a:xfrm>
          <a:prstGeom prst="rect">
            <a:avLst/>
          </a:prstGeom>
        </p:spPr>
      </p:pic>
      <p:pic>
        <p:nvPicPr>
          <p:cNvPr id="7" name="GHCR backend package" descr="GHCR backend package">    </p:cNvPr>
          <p:cNvPicPr>
            <a:picLocks noChangeAspect="1"/>
          </p:cNvPicPr>
          <p:nvPr/>
        </p:nvPicPr>
        <p:blipFill>
          <a:blip r:embed="rId2"/>
          <a:stretch>
            <a:fillRect/>
          </a:stretch>
        </p:blipFill>
        <p:spPr>
          <a:xfrm>
            <a:off x="5532120" y="1280160"/>
            <a:ext cx="3154680" cy="1028426"/>
          </a:xfrm>
          <a:prstGeom prst="rect">
            <a:avLst/>
          </a:prstGeom>
        </p:spPr>
      </p:pic>
      <p:pic>
        <p:nvPicPr>
          <p:cNvPr id="8" name="GHCR frontend package" descr="GHCR frontend package">    </p:cNvPr>
          <p:cNvPicPr>
            <a:picLocks noChangeAspect="1"/>
          </p:cNvPicPr>
          <p:nvPr/>
        </p:nvPicPr>
        <p:blipFill>
          <a:blip r:embed="rId3"/>
          <a:stretch>
            <a:fillRect/>
          </a:stretch>
        </p:blipFill>
        <p:spPr>
          <a:xfrm>
            <a:off x="5532120" y="2473178"/>
            <a:ext cx="3154680" cy="1165128"/>
          </a:xfrm>
          <a:prstGeom prst="rect">
            <a:avLst/>
          </a:prstGeom>
        </p:spPr>
      </p:pic>
      <p:sp>
        <p:nvSpPr>
          <p:cNvPr id="9" name="Run caption"/>
          <p:cNvSpPr txBox="1"/>
          <p:nvPr/>
        </p:nvSpPr>
        <p:spPr>
          <a:xfrm>
            <a:off x="457200" y="4251960"/>
            <a:ext cx="4846320" cy="411480"/>
          </a:xfrm>
          <a:prstGeom prst="rect">
            <a:avLst/>
          </a:prstGeom>
          <a:noFill/>
          <a:ln/>
        </p:spPr>
        <p:txBody>
          <a:bodyPr wrap="square" lIns="0" tIns="0" rIns="0" bIns="0" rtlCol="0" anchor="t"/>
          <a:lstStyle/>
          <a:p>
            <a:pPr indent="0" marL="0">
              <a:buNone/>
            </a:pPr>
            <a:r>
              <a:rPr lang="en-US" sz="1400" b="1" dirty="0">
                <a:solidFill>
                  <a:schemeClr val="tx1"/>
                </a:solidFill>
              </a:rPr>
              <a:t>Green run:</a:t>
            </a:r>
            <a:pPr indent="0" marL="0">
              <a:buNone/>
            </a:pPr>
            <a:r>
              <a:rPr lang="en-US" sz="1400" dirty="0">
                <a:solidFill>
                  <a:schemeClr val="tx1"/>
                </a:solidFill>
              </a:rPr>
              <a:t> test, frontend and both image builds passed.</a:t>
            </a:r>
            <a:endParaRPr lang="en-US" sz="1400" dirty="0"/>
          </a:p>
        </p:txBody>
      </p:sp>
      <p:sp>
        <p:nvSpPr>
          <p:cNvPr id="10" name="GHCR caption"/>
          <p:cNvSpPr txBox="1"/>
          <p:nvPr/>
        </p:nvSpPr>
        <p:spPr>
          <a:xfrm>
            <a:off x="5532120" y="4251960"/>
            <a:ext cx="3154680" cy="411480"/>
          </a:xfrm>
          <a:prstGeom prst="rect">
            <a:avLst/>
          </a:prstGeom>
          <a:noFill/>
          <a:ln/>
        </p:spPr>
        <p:txBody>
          <a:bodyPr wrap="square" lIns="0" tIns="0" rIns="0" bIns="0" rtlCol="0" anchor="t"/>
          <a:lstStyle/>
          <a:p>
            <a:pPr indent="0" marL="0">
              <a:buNone/>
            </a:pPr>
            <a:r>
              <a:rPr lang="en-US" sz="1400" b="1" dirty="0">
                <a:solidFill>
                  <a:schemeClr val="tx1"/>
                </a:solidFill>
              </a:rPr>
              <a:t>Public in GHCR,</a:t>
            </a:r>
            <a:pPr indent="0" marL="0">
              <a:buNone/>
            </a:pPr>
            <a:r>
              <a:rPr lang="en-US" sz="1400" dirty="0">
                <a:solidFill>
                  <a:schemeClr val="tx1"/>
                </a:solidFill>
              </a:rPr>
              <a:t> tagged with the commit SHA.</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7040880" cy="731520"/>
          </a:xfrm>
          <a:prstGeom prst="rect">
            <a:avLst/>
          </a:prstGeom>
          <a:noFill/>
          <a:ln/>
        </p:spPr>
        <p:txBody>
          <a:bodyPr wrap="square" lIns="0" tIns="0" rIns="0" bIns="0" rtlCol="0" anchor="ctr"/>
          <a:lstStyle/>
          <a:p>
            <a:pPr algn="l" indent="0" marL="0">
              <a:buNone/>
            </a:pPr>
            <a:r>
              <a:rPr lang="en-US" sz="3400" b="1" dirty="0">
                <a:solidFill>
                  <a:schemeClr val="tx1"/>
                </a:solidFill>
              </a:rPr>
              <a:t>Security scan</a:t>
            </a:r>
            <a:endParaRPr lang="en-US" sz="3400" dirty="0"/>
          </a:p>
        </p:txBody>
      </p:sp>
      <p:sp>
        <p:nvSpPr>
          <p:cNvPr id="3" name="Module chip"/>
          <p:cNvSpPr/>
          <p:nvPr/>
        </p:nvSpPr>
        <p:spPr>
          <a:xfrm>
            <a:off x="7863840" y="502920"/>
            <a:ext cx="822960" cy="365760"/>
          </a:xfrm>
          <a:prstGeom prst="roundRect">
            <a:avLst>
              <a:gd name="adj" fmla="val 50000"/>
            </a:avLst>
          </a:prstGeom>
          <a:solidFill>
            <a:schemeClr val="accent1"/>
          </a:solidFill>
          <a:ln/>
        </p:spPr>
      </p:sp>
      <p:sp>
        <p:nvSpPr>
          <p:cNvPr id="4" name="Module chip label"/>
          <p:cNvSpPr txBox="1"/>
          <p:nvPr/>
        </p:nvSpPr>
        <p:spPr>
          <a:xfrm>
            <a:off x="7863840" y="502920"/>
            <a:ext cx="822960" cy="365760"/>
          </a:xfrm>
          <a:prstGeom prst="rect">
            <a:avLst/>
          </a:prstGeom>
          <a:noFill/>
          <a:ln/>
        </p:spPr>
        <p:txBody>
          <a:bodyPr wrap="square" lIns="0" tIns="0" rIns="0" bIns="0" rtlCol="0" anchor="ctr"/>
          <a:lstStyle/>
          <a:p>
            <a:pPr algn="ctr" indent="0" marL="0">
              <a:buNone/>
            </a:pPr>
            <a:r>
              <a:rPr lang="en-US" sz="1300" b="1" spc="100" kern="0" dirty="0">
                <a:solidFill>
                  <a:schemeClr val="bg1"/>
                </a:solidFill>
              </a:rPr>
              <a:t>M6</a:t>
            </a:r>
            <a:endParaRPr lang="en-US" sz="1300" dirty="0"/>
          </a:p>
        </p:txBody>
      </p:sp>
      <p:sp>
        <p:nvSpPr>
          <p:cNvPr id="6" name="Zero 1"/>
          <p:cNvSpPr txBox="1"/>
          <p:nvPr/>
        </p:nvSpPr>
        <p:spPr>
          <a:xfrm>
            <a:off x="457200" y="1188720"/>
            <a:ext cx="914400" cy="1097280"/>
          </a:xfrm>
          <a:prstGeom prst="rect">
            <a:avLst/>
          </a:prstGeom>
          <a:noFill/>
          <a:ln/>
        </p:spPr>
        <p:txBody>
          <a:bodyPr wrap="square" lIns="0" tIns="0" rIns="0" bIns="0" rtlCol="0" anchor="ctr"/>
          <a:lstStyle/>
          <a:p>
            <a:pPr indent="0" marL="0">
              <a:buNone/>
            </a:pPr>
            <a:r>
              <a:rPr lang="en-US" sz="8000" b="1" dirty="0">
                <a:solidFill>
                  <a:schemeClr val="accent3"/>
                </a:solidFill>
                <a:latin typeface="+mj-lt" pitchFamily="34" charset="0"/>
                <a:ea typeface="+mj-lt" pitchFamily="34" charset="-122"/>
                <a:cs typeface="+mj-lt" pitchFamily="34" charset="-120"/>
              </a:rPr>
              <a:t>0</a:t>
            </a:r>
            <a:endParaRPr lang="en-US" sz="8000" dirty="0"/>
          </a:p>
        </p:txBody>
      </p:sp>
      <p:sp>
        <p:nvSpPr>
          <p:cNvPr id="7" name="Trivy label 1"/>
          <p:cNvSpPr txBox="1"/>
          <p:nvPr/>
        </p:nvSpPr>
        <p:spPr>
          <a:xfrm>
            <a:off x="1463040" y="1280160"/>
            <a:ext cx="2743200" cy="594360"/>
          </a:xfrm>
          <a:prstGeom prst="rect">
            <a:avLst/>
          </a:prstGeom>
          <a:noFill/>
          <a:ln/>
        </p:spPr>
        <p:txBody>
          <a:bodyPr wrap="square" lIns="0" tIns="0" rIns="0" bIns="0" rtlCol="0" anchor="b"/>
          <a:lstStyle/>
          <a:p>
            <a:pPr indent="0" marL="0">
              <a:buNone/>
            </a:pPr>
            <a:r>
              <a:rPr lang="en-US" sz="1400" b="1" dirty="0">
                <a:solidFill>
                  <a:schemeClr val="tx1"/>
                </a:solidFill>
              </a:rPr>
              <a:t>vulnerabilities in the backend image</a:t>
            </a:r>
            <a:pPr indent="0" marL="0">
              <a:buNone/>
            </a:pPr>
            <a:endParaRPr lang="en-US" sz="1400" dirty="0"/>
          </a:p>
        </p:txBody>
      </p:sp>
      <p:sp>
        <p:nvSpPr>
          <p:cNvPr id="8" name="Trivy detail 1"/>
          <p:cNvSpPr txBox="1"/>
          <p:nvPr/>
        </p:nvSpPr>
        <p:spPr>
          <a:xfrm>
            <a:off x="1463040" y="1874520"/>
            <a:ext cx="2743200" cy="365760"/>
          </a:xfrm>
          <a:prstGeom prst="rect">
            <a:avLst/>
          </a:prstGeom>
          <a:noFill/>
          <a:ln/>
        </p:spPr>
        <p:txBody>
          <a:bodyPr wrap="square" lIns="0" tIns="0" rIns="0" bIns="0" rtlCol="0" anchor="t"/>
          <a:lstStyle/>
          <a:p>
            <a:pPr indent="0" marL="0">
              <a:buNone/>
            </a:pPr>
            <a:r>
              <a:rPr lang="en-US" sz="1400" dirty="0">
                <a:solidFill>
                  <a:schemeClr val="accent4"/>
                </a:solidFill>
              </a:rPr>
              <a:t>Debian 13.7 and Python packages</a:t>
            </a:r>
            <a:endParaRPr lang="en-US" sz="1400" dirty="0"/>
          </a:p>
        </p:txBody>
      </p:sp>
      <p:sp>
        <p:nvSpPr>
          <p:cNvPr id="9" name="Zero 2"/>
          <p:cNvSpPr txBox="1"/>
          <p:nvPr/>
        </p:nvSpPr>
        <p:spPr>
          <a:xfrm>
            <a:off x="4572000" y="1188720"/>
            <a:ext cx="914400" cy="1097280"/>
          </a:xfrm>
          <a:prstGeom prst="rect">
            <a:avLst/>
          </a:prstGeom>
          <a:noFill/>
          <a:ln/>
        </p:spPr>
        <p:txBody>
          <a:bodyPr wrap="square" lIns="0" tIns="0" rIns="0" bIns="0" rtlCol="0" anchor="ctr"/>
          <a:lstStyle/>
          <a:p>
            <a:pPr indent="0" marL="0">
              <a:buNone/>
            </a:pPr>
            <a:r>
              <a:rPr lang="en-US" sz="8000" b="1" dirty="0">
                <a:solidFill>
                  <a:schemeClr val="accent3"/>
                </a:solidFill>
                <a:latin typeface="+mj-lt" pitchFamily="34" charset="0"/>
                <a:ea typeface="+mj-lt" pitchFamily="34" charset="-122"/>
                <a:cs typeface="+mj-lt" pitchFamily="34" charset="-120"/>
              </a:rPr>
              <a:t>0</a:t>
            </a:r>
            <a:endParaRPr lang="en-US" sz="8000" dirty="0"/>
          </a:p>
        </p:txBody>
      </p:sp>
      <p:sp>
        <p:nvSpPr>
          <p:cNvPr id="10" name="Trivy label 2"/>
          <p:cNvSpPr txBox="1"/>
          <p:nvPr/>
        </p:nvSpPr>
        <p:spPr>
          <a:xfrm>
            <a:off x="5577840" y="1280160"/>
            <a:ext cx="2743200" cy="594360"/>
          </a:xfrm>
          <a:prstGeom prst="rect">
            <a:avLst/>
          </a:prstGeom>
          <a:noFill/>
          <a:ln/>
        </p:spPr>
        <p:txBody>
          <a:bodyPr wrap="square" lIns="0" tIns="0" rIns="0" bIns="0" rtlCol="0" anchor="b"/>
          <a:lstStyle/>
          <a:p>
            <a:pPr indent="0" marL="0">
              <a:buNone/>
            </a:pPr>
            <a:r>
              <a:rPr lang="en-US" sz="1400" b="1" dirty="0">
                <a:solidFill>
                  <a:schemeClr val="tx1"/>
                </a:solidFill>
              </a:rPr>
              <a:t>vulnerabilities in the frontend image</a:t>
            </a:r>
            <a:pPr indent="0" marL="0">
              <a:buNone/>
            </a:pPr>
            <a:endParaRPr lang="en-US" sz="1400" dirty="0"/>
          </a:p>
        </p:txBody>
      </p:sp>
      <p:sp>
        <p:nvSpPr>
          <p:cNvPr id="11" name="Trivy detail 2"/>
          <p:cNvSpPr txBox="1"/>
          <p:nvPr/>
        </p:nvSpPr>
        <p:spPr>
          <a:xfrm>
            <a:off x="5577840" y="1874520"/>
            <a:ext cx="2743200" cy="365760"/>
          </a:xfrm>
          <a:prstGeom prst="rect">
            <a:avLst/>
          </a:prstGeom>
          <a:noFill/>
          <a:ln/>
        </p:spPr>
        <p:txBody>
          <a:bodyPr wrap="square" lIns="0" tIns="0" rIns="0" bIns="0" rtlCol="0" anchor="t"/>
          <a:lstStyle/>
          <a:p>
            <a:pPr indent="0" marL="0">
              <a:buNone/>
            </a:pPr>
            <a:r>
              <a:rPr lang="en-US" sz="1400" dirty="0">
                <a:solidFill>
                  <a:schemeClr val="accent4"/>
                </a:solidFill>
              </a:rPr>
              <a:t>Alpine 3.24.2</a:t>
            </a:r>
            <a:endParaRPr lang="en-US" sz="1400" dirty="0"/>
          </a:p>
        </p:txBody>
      </p:sp>
      <p:pic>
        <p:nvPicPr>
          <p:cNvPr id="12" name="Trivy scan of the backend image" descr="Trivy scan of the backend image">    </p:cNvPr>
          <p:cNvPicPr>
            <a:picLocks noChangeAspect="1"/>
          </p:cNvPicPr>
          <p:nvPr/>
        </p:nvPicPr>
        <p:blipFill>
          <a:blip r:embed="rId1"/>
          <a:stretch>
            <a:fillRect/>
          </a:stretch>
        </p:blipFill>
        <p:spPr>
          <a:xfrm>
            <a:off x="457200" y="2606040"/>
            <a:ext cx="3063240" cy="1844070"/>
          </a:xfrm>
          <a:prstGeom prst="rect">
            <a:avLst/>
          </a:prstGeom>
        </p:spPr>
      </p:pic>
      <p:pic>
        <p:nvPicPr>
          <p:cNvPr id="13" name="Trivy scan of the frontend image" descr="Trivy scan of the frontend image">    </p:cNvPr>
          <p:cNvPicPr>
            <a:picLocks noChangeAspect="1"/>
          </p:cNvPicPr>
          <p:nvPr/>
        </p:nvPicPr>
        <p:blipFill>
          <a:blip r:embed="rId2"/>
          <a:stretch>
            <a:fillRect/>
          </a:stretch>
        </p:blipFill>
        <p:spPr>
          <a:xfrm>
            <a:off x="3657600" y="2606040"/>
            <a:ext cx="3063240" cy="1844070"/>
          </a:xfrm>
          <a:prstGeom prst="rect">
            <a:avLst/>
          </a:prstGeom>
        </p:spPr>
      </p:pic>
      <p:sp>
        <p:nvSpPr>
          <p:cNvPr id="14" name="Trivy gate"/>
          <p:cNvSpPr txBox="1"/>
          <p:nvPr/>
        </p:nvSpPr>
        <p:spPr>
          <a:xfrm>
            <a:off x="6949440" y="2606040"/>
            <a:ext cx="1737360" cy="2011680"/>
          </a:xfrm>
          <a:prstGeom prst="rect">
            <a:avLst/>
          </a:prstGeom>
          <a:noFill/>
          <a:ln/>
        </p:spPr>
        <p:txBody>
          <a:bodyPr wrap="square" lIns="0" tIns="0" rIns="0" bIns="0" rtlCol="0" anchor="t"/>
          <a:lstStyle/>
          <a:p>
            <a:pPr indent="0" marL="0">
              <a:buNone/>
            </a:pPr>
            <a:r>
              <a:rPr lang="en-US" sz="1400" b="1" dirty="0">
                <a:solidFill>
                  <a:schemeClr val="tx1"/>
                </a:solidFill>
              </a:rPr>
              <a:t>The gate:</a:t>
            </a:r>
            <a:pPr indent="0" marL="0">
              <a:buNone/>
            </a:pPr>
            <a:r>
              <a:rPr lang="en-US" sz="1400" dirty="0">
                <a:solidFill>
                  <a:schemeClr val="tx1"/>
                </a:solidFill>
              </a:rPr>
              <a:t> HIGH and CRITICAL, unfixed ignored, exit code 1. A bad image never reaches GHCR.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7040880" cy="731520"/>
          </a:xfrm>
          <a:prstGeom prst="rect">
            <a:avLst/>
          </a:prstGeom>
          <a:noFill/>
          <a:ln/>
        </p:spPr>
        <p:txBody>
          <a:bodyPr wrap="square" lIns="0" tIns="0" rIns="0" bIns="0" rtlCol="0" anchor="ctr"/>
          <a:lstStyle/>
          <a:p>
            <a:pPr algn="l" indent="0" marL="0">
              <a:buNone/>
            </a:pPr>
            <a:r>
              <a:rPr lang="en-US" sz="3400" b="1" dirty="0">
                <a:solidFill>
                  <a:schemeClr val="tx1"/>
                </a:solidFill>
              </a:rPr>
              <a:t>Terraform on AWS</a:t>
            </a:r>
            <a:endParaRPr lang="en-US" sz="3400" dirty="0"/>
          </a:p>
        </p:txBody>
      </p:sp>
      <p:sp>
        <p:nvSpPr>
          <p:cNvPr id="3" name="Module chip"/>
          <p:cNvSpPr/>
          <p:nvPr/>
        </p:nvSpPr>
        <p:spPr>
          <a:xfrm>
            <a:off x="7863840" y="502920"/>
            <a:ext cx="822960" cy="365760"/>
          </a:xfrm>
          <a:prstGeom prst="roundRect">
            <a:avLst>
              <a:gd name="adj" fmla="val 50000"/>
            </a:avLst>
          </a:prstGeom>
          <a:solidFill>
            <a:schemeClr val="accent1"/>
          </a:solidFill>
          <a:ln/>
        </p:spPr>
      </p:sp>
      <p:sp>
        <p:nvSpPr>
          <p:cNvPr id="4" name="Module chip label"/>
          <p:cNvSpPr txBox="1"/>
          <p:nvPr/>
        </p:nvSpPr>
        <p:spPr>
          <a:xfrm>
            <a:off x="7863840" y="502920"/>
            <a:ext cx="822960" cy="365760"/>
          </a:xfrm>
          <a:prstGeom prst="rect">
            <a:avLst/>
          </a:prstGeom>
          <a:noFill/>
          <a:ln/>
        </p:spPr>
        <p:txBody>
          <a:bodyPr wrap="square" lIns="0" tIns="0" rIns="0" bIns="0" rtlCol="0" anchor="ctr"/>
          <a:lstStyle/>
          <a:p>
            <a:pPr algn="ctr" indent="0" marL="0">
              <a:buNone/>
            </a:pPr>
            <a:r>
              <a:rPr lang="en-US" sz="1300" b="1" spc="100" kern="0" dirty="0">
                <a:solidFill>
                  <a:schemeClr val="bg1"/>
                </a:solidFill>
              </a:rPr>
              <a:t>M7</a:t>
            </a:r>
            <a:endParaRPr lang="en-US" sz="1300" dirty="0"/>
          </a:p>
        </p:txBody>
      </p:sp>
      <p:sp>
        <p:nvSpPr>
          <p:cNvPr id="6" name="VPC circle"/>
          <p:cNvSpPr/>
          <p:nvPr/>
        </p:nvSpPr>
        <p:spPr>
          <a:xfrm>
            <a:off x="457200" y="1335024"/>
            <a:ext cx="502920" cy="502920"/>
          </a:xfrm>
          <a:prstGeom prst="ellipse">
            <a:avLst/>
          </a:prstGeom>
          <a:solidFill>
            <a:schemeClr val="tx2"/>
          </a:solidFill>
          <a:ln/>
        </p:spPr>
      </p:sp>
      <p:pic>
        <p:nvPicPr>
          <p:cNvPr id="7" name="VPC" descr="VPC">    </p:cNvPr>
          <p:cNvPicPr>
            <a:picLocks noChangeAspect="1"/>
          </p:cNvPicPr>
          <p:nvPr/>
        </p:nvPicPr>
        <p:blipFill>
          <a:blip r:embed="rId1"/>
          <a:stretch>
            <a:fillRect/>
          </a:stretch>
        </p:blipFill>
        <p:spPr>
          <a:xfrm>
            <a:off x="592988" y="1470812"/>
            <a:ext cx="231343" cy="231343"/>
          </a:xfrm>
          <a:prstGeom prst="rect">
            <a:avLst/>
          </a:prstGeom>
        </p:spPr>
      </p:pic>
      <p:sp>
        <p:nvSpPr>
          <p:cNvPr id="8" name="Terraform fact 1"/>
          <p:cNvSpPr txBox="1"/>
          <p:nvPr/>
        </p:nvSpPr>
        <p:spPr>
          <a:xfrm>
            <a:off x="1143000" y="1280160"/>
            <a:ext cx="3017520" cy="731520"/>
          </a:xfrm>
          <a:prstGeom prst="rect">
            <a:avLst/>
          </a:prstGeom>
          <a:noFill/>
          <a:ln/>
        </p:spPr>
        <p:txBody>
          <a:bodyPr wrap="square" lIns="0" tIns="0" rIns="0" bIns="0" rtlCol="0" anchor="ctr"/>
          <a:lstStyle/>
          <a:p>
            <a:pPr indent="0" marL="0">
              <a:buNone/>
            </a:pPr>
            <a:r>
              <a:rPr lang="en-US" sz="1400" b="1" dirty="0">
                <a:solidFill>
                  <a:schemeClr val="tx1"/>
                </a:solidFill>
              </a:rPr>
              <a:t>VPC  </a:t>
            </a:r>
            <a:pPr indent="0" marL="0">
              <a:buNone/>
            </a:pPr>
            <a:r>
              <a:rPr lang="en-US" sz="1400" dirty="0">
                <a:solidFill>
                  <a:schemeClr val="tx1"/>
                </a:solidFill>
              </a:rPr>
              <a:t>10.0.0.0/16 with two public subnets in ap-south-1a and ap-south-1b</a:t>
            </a:r>
            <a:endParaRPr lang="en-US" sz="1400" dirty="0"/>
          </a:p>
        </p:txBody>
      </p:sp>
      <p:sp>
        <p:nvSpPr>
          <p:cNvPr id="9" name="EKS 1.35 circle"/>
          <p:cNvSpPr/>
          <p:nvPr/>
        </p:nvSpPr>
        <p:spPr>
          <a:xfrm>
            <a:off x="457200" y="2176272"/>
            <a:ext cx="502920" cy="502920"/>
          </a:xfrm>
          <a:prstGeom prst="ellipse">
            <a:avLst/>
          </a:prstGeom>
          <a:solidFill>
            <a:schemeClr val="tx2"/>
          </a:solidFill>
          <a:ln/>
        </p:spPr>
      </p:sp>
      <p:pic>
        <p:nvPicPr>
          <p:cNvPr id="10" name="EKS 1.35" descr="EKS 1.35">    </p:cNvPr>
          <p:cNvPicPr>
            <a:picLocks noChangeAspect="1"/>
          </p:cNvPicPr>
          <p:nvPr/>
        </p:nvPicPr>
        <p:blipFill>
          <a:blip r:embed="rId2"/>
          <a:stretch>
            <a:fillRect/>
          </a:stretch>
        </p:blipFill>
        <p:spPr>
          <a:xfrm>
            <a:off x="592988" y="2312060"/>
            <a:ext cx="231343" cy="231343"/>
          </a:xfrm>
          <a:prstGeom prst="rect">
            <a:avLst/>
          </a:prstGeom>
        </p:spPr>
      </p:pic>
      <p:sp>
        <p:nvSpPr>
          <p:cNvPr id="11" name="Terraform fact 2"/>
          <p:cNvSpPr txBox="1"/>
          <p:nvPr/>
        </p:nvSpPr>
        <p:spPr>
          <a:xfrm>
            <a:off x="1143000" y="2121408"/>
            <a:ext cx="3017520" cy="731520"/>
          </a:xfrm>
          <a:prstGeom prst="rect">
            <a:avLst/>
          </a:prstGeom>
          <a:noFill/>
          <a:ln/>
        </p:spPr>
        <p:txBody>
          <a:bodyPr wrap="square" lIns="0" tIns="0" rIns="0" bIns="0" rtlCol="0" anchor="ctr"/>
          <a:lstStyle/>
          <a:p>
            <a:pPr indent="0" marL="0">
              <a:buNone/>
            </a:pPr>
            <a:r>
              <a:rPr lang="en-US" sz="1400" b="1" dirty="0">
                <a:solidFill>
                  <a:schemeClr val="tx1"/>
                </a:solidFill>
              </a:rPr>
              <a:t>EKS 1.35  </a:t>
            </a:r>
            <a:pPr indent="0" marL="0">
              <a:buNone/>
            </a:pPr>
            <a:r>
              <a:rPr lang="en-US" sz="1400" dirty="0">
                <a:solidFill>
                  <a:schemeClr val="tx1"/>
                </a:solidFill>
              </a:rPr>
              <a:t>managed node group, 2 x t3.small</a:t>
            </a:r>
            <a:endParaRPr lang="en-US" sz="1400" dirty="0"/>
          </a:p>
        </p:txBody>
      </p:sp>
      <p:sp>
        <p:nvSpPr>
          <p:cNvPr id="12" name="Locked API circle"/>
          <p:cNvSpPr/>
          <p:nvPr/>
        </p:nvSpPr>
        <p:spPr>
          <a:xfrm>
            <a:off x="457200" y="3017520"/>
            <a:ext cx="502920" cy="502920"/>
          </a:xfrm>
          <a:prstGeom prst="ellipse">
            <a:avLst/>
          </a:prstGeom>
          <a:solidFill>
            <a:schemeClr val="tx2"/>
          </a:solidFill>
          <a:ln/>
        </p:spPr>
      </p:sp>
      <p:pic>
        <p:nvPicPr>
          <p:cNvPr id="13" name="Locked API" descr="Locked API">    </p:cNvPr>
          <p:cNvPicPr>
            <a:picLocks noChangeAspect="1"/>
          </p:cNvPicPr>
          <p:nvPr/>
        </p:nvPicPr>
        <p:blipFill>
          <a:blip r:embed="rId3"/>
          <a:stretch>
            <a:fillRect/>
          </a:stretch>
        </p:blipFill>
        <p:spPr>
          <a:xfrm>
            <a:off x="592988" y="3153308"/>
            <a:ext cx="231343" cy="231343"/>
          </a:xfrm>
          <a:prstGeom prst="rect">
            <a:avLst/>
          </a:prstGeom>
        </p:spPr>
      </p:pic>
      <p:sp>
        <p:nvSpPr>
          <p:cNvPr id="14" name="Terraform fact 3"/>
          <p:cNvSpPr txBox="1"/>
          <p:nvPr/>
        </p:nvSpPr>
        <p:spPr>
          <a:xfrm>
            <a:off x="1143000" y="2962656"/>
            <a:ext cx="3017520" cy="731520"/>
          </a:xfrm>
          <a:prstGeom prst="rect">
            <a:avLst/>
          </a:prstGeom>
          <a:noFill/>
          <a:ln/>
        </p:spPr>
        <p:txBody>
          <a:bodyPr wrap="square" lIns="0" tIns="0" rIns="0" bIns="0" rtlCol="0" anchor="ctr"/>
          <a:lstStyle/>
          <a:p>
            <a:pPr indent="0" marL="0">
              <a:buNone/>
            </a:pPr>
            <a:r>
              <a:rPr lang="en-US" sz="1400" b="1" dirty="0">
                <a:solidFill>
                  <a:schemeClr val="tx1"/>
                </a:solidFill>
              </a:rPr>
              <a:t>Locked API  </a:t>
            </a:r>
            <a:pPr indent="0" marL="0">
              <a:buNone/>
            </a:pPr>
            <a:r>
              <a:rPr lang="en-US" sz="1400" dirty="0">
                <a:solidFill>
                  <a:schemeClr val="tx1"/>
                </a:solidFill>
              </a:rPr>
              <a:t>only my IP can reach the cluster endpoint</a:t>
            </a:r>
            <a:endParaRPr lang="en-US" sz="1400" dirty="0"/>
          </a:p>
        </p:txBody>
      </p:sp>
      <p:sp>
        <p:nvSpPr>
          <p:cNvPr id="15" name="49 resources circle"/>
          <p:cNvSpPr/>
          <p:nvPr/>
        </p:nvSpPr>
        <p:spPr>
          <a:xfrm>
            <a:off x="457200" y="3858768"/>
            <a:ext cx="502920" cy="502920"/>
          </a:xfrm>
          <a:prstGeom prst="ellipse">
            <a:avLst/>
          </a:prstGeom>
          <a:solidFill>
            <a:schemeClr val="tx2"/>
          </a:solidFill>
          <a:ln/>
        </p:spPr>
      </p:sp>
      <p:pic>
        <p:nvPicPr>
          <p:cNvPr id="16" name="49 resources" descr="49 resources">    </p:cNvPr>
          <p:cNvPicPr>
            <a:picLocks noChangeAspect="1"/>
          </p:cNvPicPr>
          <p:nvPr/>
        </p:nvPicPr>
        <p:blipFill>
          <a:blip r:embed="rId4"/>
          <a:stretch>
            <a:fillRect/>
          </a:stretch>
        </p:blipFill>
        <p:spPr>
          <a:xfrm>
            <a:off x="592988" y="3994556"/>
            <a:ext cx="231343" cy="231343"/>
          </a:xfrm>
          <a:prstGeom prst="rect">
            <a:avLst/>
          </a:prstGeom>
        </p:spPr>
      </p:pic>
      <p:sp>
        <p:nvSpPr>
          <p:cNvPr id="17" name="Terraform fact 4"/>
          <p:cNvSpPr txBox="1"/>
          <p:nvPr/>
        </p:nvSpPr>
        <p:spPr>
          <a:xfrm>
            <a:off x="1143000" y="3803904"/>
            <a:ext cx="3017520" cy="731520"/>
          </a:xfrm>
          <a:prstGeom prst="rect">
            <a:avLst/>
          </a:prstGeom>
          <a:noFill/>
          <a:ln/>
        </p:spPr>
        <p:txBody>
          <a:bodyPr wrap="square" lIns="0" tIns="0" rIns="0" bIns="0" rtlCol="0" anchor="ctr"/>
          <a:lstStyle/>
          <a:p>
            <a:pPr indent="0" marL="0">
              <a:buNone/>
            </a:pPr>
            <a:r>
              <a:rPr lang="en-US" sz="1400" b="1" dirty="0">
                <a:solidFill>
                  <a:schemeClr val="tx1"/>
                </a:solidFill>
              </a:rPr>
              <a:t>49 resources  </a:t>
            </a:r>
            <a:pPr indent="0" marL="0">
              <a:buNone/>
            </a:pPr>
            <a:r>
              <a:rPr lang="en-US" sz="1400" dirty="0">
                <a:solidFill>
                  <a:schemeClr val="tx1"/>
                </a:solidFill>
              </a:rPr>
              <a:t>planned, created and destroyed</a:t>
            </a:r>
            <a:endParaRPr lang="en-US" sz="1400" dirty="0"/>
          </a:p>
        </p:txBody>
      </p:sp>
      <p:pic>
        <p:nvPicPr>
          <p:cNvPr id="18" name="terraform plan output" descr="terraform plan output">    </p:cNvPr>
          <p:cNvPicPr>
            <a:picLocks noChangeAspect="1"/>
          </p:cNvPicPr>
          <p:nvPr/>
        </p:nvPicPr>
        <p:blipFill>
          <a:blip r:embed="rId5"/>
          <a:stretch>
            <a:fillRect/>
          </a:stretch>
        </p:blipFill>
        <p:spPr>
          <a:xfrm>
            <a:off x="4434840" y="1280160"/>
            <a:ext cx="4251960" cy="2996214"/>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7040880" cy="731520"/>
          </a:xfrm>
          <a:prstGeom prst="rect">
            <a:avLst/>
          </a:prstGeom>
          <a:noFill/>
          <a:ln/>
        </p:spPr>
        <p:txBody>
          <a:bodyPr wrap="square" lIns="0" tIns="0" rIns="0" bIns="0" rtlCol="0" anchor="ctr"/>
          <a:lstStyle/>
          <a:p>
            <a:pPr algn="l" indent="0" marL="0">
              <a:buNone/>
            </a:pPr>
            <a:r>
              <a:rPr lang="en-US" sz="3400" b="1" dirty="0">
                <a:solidFill>
                  <a:schemeClr val="tx1"/>
                </a:solidFill>
              </a:rPr>
              <a:t>AWS Console</a:t>
            </a:r>
            <a:endParaRPr lang="en-US" sz="3400" dirty="0"/>
          </a:p>
        </p:txBody>
      </p:sp>
      <p:sp>
        <p:nvSpPr>
          <p:cNvPr id="3" name="Module chip"/>
          <p:cNvSpPr/>
          <p:nvPr/>
        </p:nvSpPr>
        <p:spPr>
          <a:xfrm>
            <a:off x="7863840" y="502920"/>
            <a:ext cx="822960" cy="365760"/>
          </a:xfrm>
          <a:prstGeom prst="roundRect">
            <a:avLst>
              <a:gd name="adj" fmla="val 50000"/>
            </a:avLst>
          </a:prstGeom>
          <a:solidFill>
            <a:schemeClr val="accent1"/>
          </a:solidFill>
          <a:ln/>
        </p:spPr>
      </p:sp>
      <p:sp>
        <p:nvSpPr>
          <p:cNvPr id="4" name="Module chip label"/>
          <p:cNvSpPr txBox="1"/>
          <p:nvPr/>
        </p:nvSpPr>
        <p:spPr>
          <a:xfrm>
            <a:off x="7863840" y="502920"/>
            <a:ext cx="822960" cy="365760"/>
          </a:xfrm>
          <a:prstGeom prst="rect">
            <a:avLst/>
          </a:prstGeom>
          <a:noFill/>
          <a:ln/>
        </p:spPr>
        <p:txBody>
          <a:bodyPr wrap="square" lIns="0" tIns="0" rIns="0" bIns="0" rtlCol="0" anchor="ctr"/>
          <a:lstStyle/>
          <a:p>
            <a:pPr algn="ctr" indent="0" marL="0">
              <a:buNone/>
            </a:pPr>
            <a:r>
              <a:rPr lang="en-US" sz="1300" b="1" spc="100" kern="0" dirty="0">
                <a:solidFill>
                  <a:schemeClr val="bg1"/>
                </a:solidFill>
              </a:rPr>
              <a:t>M7</a:t>
            </a:r>
            <a:endParaRPr lang="en-US" sz="1300" dirty="0"/>
          </a:p>
        </p:txBody>
      </p:sp>
      <p:pic>
        <p:nvPicPr>
          <p:cNvPr id="6" name="VPC bugtrack-vpc, two subnets" descr="VPC bugtrack-vpc, two subnets">    </p:cNvPr>
          <p:cNvPicPr>
            <a:picLocks noChangeAspect="1"/>
          </p:cNvPicPr>
          <p:nvPr/>
        </p:nvPicPr>
        <p:blipFill>
          <a:blip r:embed="rId1"/>
          <a:stretch>
            <a:fillRect/>
          </a:stretch>
        </p:blipFill>
        <p:spPr>
          <a:xfrm>
            <a:off x="457200" y="1234440"/>
            <a:ext cx="2651760" cy="1596360"/>
          </a:xfrm>
          <a:prstGeom prst="rect">
            <a:avLst/>
          </a:prstGeom>
        </p:spPr>
      </p:pic>
      <p:sp>
        <p:nvSpPr>
          <p:cNvPr id="7" name="Caption 10-aws-vpc"/>
          <p:cNvSpPr txBox="1"/>
          <p:nvPr/>
        </p:nvSpPr>
        <p:spPr>
          <a:xfrm>
            <a:off x="457200" y="2926080"/>
            <a:ext cx="2651760" cy="320040"/>
          </a:xfrm>
          <a:prstGeom prst="rect">
            <a:avLst/>
          </a:prstGeom>
          <a:noFill/>
          <a:ln/>
        </p:spPr>
        <p:txBody>
          <a:bodyPr wrap="square" lIns="0" tIns="0" rIns="0" bIns="0" rtlCol="0" anchor="t"/>
          <a:lstStyle/>
          <a:p>
            <a:pPr indent="0" marL="0">
              <a:buNone/>
            </a:pPr>
            <a:r>
              <a:rPr lang="en-US" sz="1400" b="1" dirty="0">
                <a:solidFill>
                  <a:schemeClr val="tx1"/>
                </a:solidFill>
              </a:rPr>
              <a:t>VPC bugtrack-vpc, two subnets</a:t>
            </a:r>
            <a:endParaRPr lang="en-US" sz="1400" dirty="0"/>
          </a:p>
        </p:txBody>
      </p:sp>
      <p:pic>
        <p:nvPicPr>
          <p:cNvPr id="8" name="EKS cluster, Active" descr="EKS cluster, Active">    </p:cNvPr>
          <p:cNvPicPr>
            <a:picLocks noChangeAspect="1"/>
          </p:cNvPicPr>
          <p:nvPr/>
        </p:nvPicPr>
        <p:blipFill>
          <a:blip r:embed="rId2"/>
          <a:stretch>
            <a:fillRect/>
          </a:stretch>
        </p:blipFill>
        <p:spPr>
          <a:xfrm>
            <a:off x="3246120" y="1234440"/>
            <a:ext cx="2651760" cy="1596360"/>
          </a:xfrm>
          <a:prstGeom prst="rect">
            <a:avLst/>
          </a:prstGeom>
        </p:spPr>
      </p:pic>
      <p:sp>
        <p:nvSpPr>
          <p:cNvPr id="9" name="Caption 11-aws-eks-cluster"/>
          <p:cNvSpPr txBox="1"/>
          <p:nvPr/>
        </p:nvSpPr>
        <p:spPr>
          <a:xfrm>
            <a:off x="3246120" y="2926080"/>
            <a:ext cx="2651760" cy="320040"/>
          </a:xfrm>
          <a:prstGeom prst="rect">
            <a:avLst/>
          </a:prstGeom>
          <a:noFill/>
          <a:ln/>
        </p:spPr>
        <p:txBody>
          <a:bodyPr wrap="square" lIns="0" tIns="0" rIns="0" bIns="0" rtlCol="0" anchor="t"/>
          <a:lstStyle/>
          <a:p>
            <a:pPr indent="0" marL="0">
              <a:buNone/>
            </a:pPr>
            <a:r>
              <a:rPr lang="en-US" sz="1400" b="1" dirty="0">
                <a:solidFill>
                  <a:schemeClr val="tx1"/>
                </a:solidFill>
              </a:rPr>
              <a:t>EKS cluster, Active</a:t>
            </a:r>
            <a:endParaRPr lang="en-US" sz="1400" dirty="0"/>
          </a:p>
        </p:txBody>
      </p:sp>
      <p:pic>
        <p:nvPicPr>
          <p:cNvPr id="10" name="2 nodes, Ready" descr="2 nodes, Ready">    </p:cNvPr>
          <p:cNvPicPr>
            <a:picLocks noChangeAspect="1"/>
          </p:cNvPicPr>
          <p:nvPr/>
        </p:nvPicPr>
        <p:blipFill>
          <a:blip r:embed="rId3"/>
          <a:stretch>
            <a:fillRect/>
          </a:stretch>
        </p:blipFill>
        <p:spPr>
          <a:xfrm>
            <a:off x="6035040" y="1234440"/>
            <a:ext cx="2651760" cy="1596360"/>
          </a:xfrm>
          <a:prstGeom prst="rect">
            <a:avLst/>
          </a:prstGeom>
        </p:spPr>
      </p:pic>
      <p:sp>
        <p:nvSpPr>
          <p:cNvPr id="11" name="Caption 11b-aws-eks-nodes"/>
          <p:cNvSpPr txBox="1"/>
          <p:nvPr/>
        </p:nvSpPr>
        <p:spPr>
          <a:xfrm>
            <a:off x="6035040" y="2926080"/>
            <a:ext cx="2651760" cy="320040"/>
          </a:xfrm>
          <a:prstGeom prst="rect">
            <a:avLst/>
          </a:prstGeom>
          <a:noFill/>
          <a:ln/>
        </p:spPr>
        <p:txBody>
          <a:bodyPr wrap="square" lIns="0" tIns="0" rIns="0" bIns="0" rtlCol="0" anchor="t"/>
          <a:lstStyle/>
          <a:p>
            <a:pPr indent="0" marL="0">
              <a:buNone/>
            </a:pPr>
            <a:r>
              <a:rPr lang="en-US" sz="1400" b="1" dirty="0">
                <a:solidFill>
                  <a:schemeClr val="tx1"/>
                </a:solidFill>
              </a:rPr>
              <a:t>2 nodes, Ready</a:t>
            </a:r>
            <a:endParaRPr lang="en-US" sz="1400" dirty="0"/>
          </a:p>
        </p:txBody>
      </p:sp>
      <p:sp>
        <p:nvSpPr>
          <p:cNvPr id="12" name="Destroyed count"/>
          <p:cNvSpPr txBox="1"/>
          <p:nvPr/>
        </p:nvSpPr>
        <p:spPr>
          <a:xfrm>
            <a:off x="457200" y="3337560"/>
            <a:ext cx="1188720" cy="1188720"/>
          </a:xfrm>
          <a:prstGeom prst="rect">
            <a:avLst/>
          </a:prstGeom>
          <a:noFill/>
          <a:ln/>
        </p:spPr>
        <p:txBody>
          <a:bodyPr wrap="square" lIns="0" tIns="0" rIns="0" bIns="0" rtlCol="0" anchor="ctr"/>
          <a:lstStyle/>
          <a:p>
            <a:pPr indent="0" marL="0">
              <a:buNone/>
            </a:pPr>
            <a:r>
              <a:rPr lang="en-US" sz="6600" b="1" dirty="0">
                <a:solidFill>
                  <a:schemeClr val="accent1"/>
                </a:solidFill>
                <a:latin typeface="+mj-lt" pitchFamily="34" charset="0"/>
                <a:ea typeface="+mj-lt" pitchFamily="34" charset="-122"/>
                <a:cs typeface="+mj-lt" pitchFamily="34" charset="-120"/>
              </a:rPr>
              <a:t>49</a:t>
            </a:r>
            <a:endParaRPr lang="en-US" sz="6600" dirty="0"/>
          </a:p>
        </p:txBody>
      </p:sp>
      <p:sp>
        <p:nvSpPr>
          <p:cNvPr id="13" name="Destroy note"/>
          <p:cNvSpPr txBox="1"/>
          <p:nvPr/>
        </p:nvSpPr>
        <p:spPr>
          <a:xfrm>
            <a:off x="1691640" y="3429000"/>
            <a:ext cx="3383280" cy="1005840"/>
          </a:xfrm>
          <a:prstGeom prst="rect">
            <a:avLst/>
          </a:prstGeom>
          <a:noFill/>
          <a:ln/>
        </p:spPr>
        <p:txBody>
          <a:bodyPr wrap="square" lIns="0" tIns="0" rIns="0" bIns="0" rtlCol="0" anchor="ctr"/>
          <a:lstStyle/>
          <a:p>
            <a:pPr indent="0" marL="0">
              <a:buNone/>
            </a:pPr>
            <a:r>
              <a:rPr lang="en-US" sz="1600" b="1" dirty="0">
                <a:solidFill>
                  <a:schemeClr val="tx1"/>
                </a:solidFill>
              </a:rPr>
              <a:t>resources removed by terraform destroy.</a:t>
            </a:r>
            <a:pPr indent="0" marL="0">
              <a:buNone/>
            </a:pPr>
            <a:r>
              <a:rPr lang="en-US" sz="1600" dirty="0">
                <a:solidFill>
                  <a:schemeClr val="tx1"/>
                </a:solidFill>
              </a:rPr>
              <a:t> Nothing is left to bill.</a:t>
            </a:r>
            <a:endParaRPr lang="en-US" sz="1600" dirty="0"/>
          </a:p>
        </p:txBody>
      </p:sp>
      <p:pic>
        <p:nvPicPr>
          <p:cNvPr id="14" name="terraform destroy output" descr="terraform destroy output">    </p:cNvPr>
          <p:cNvPicPr>
            <a:picLocks noChangeAspect="1"/>
          </p:cNvPicPr>
          <p:nvPr/>
        </p:nvPicPr>
        <p:blipFill>
          <a:blip r:embed="rId4"/>
          <a:stretch>
            <a:fillRect/>
          </a:stretch>
        </p:blipFill>
        <p:spPr>
          <a:xfrm>
            <a:off x="5669280" y="3246120"/>
            <a:ext cx="2011680" cy="1417564"/>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7040880" cy="731520"/>
          </a:xfrm>
          <a:prstGeom prst="rect">
            <a:avLst/>
          </a:prstGeom>
          <a:noFill/>
          <a:ln/>
        </p:spPr>
        <p:txBody>
          <a:bodyPr wrap="square" lIns="0" tIns="0" rIns="0" bIns="0" rtlCol="0" anchor="ctr"/>
          <a:lstStyle/>
          <a:p>
            <a:pPr algn="l" indent="0" marL="0">
              <a:buNone/>
            </a:pPr>
            <a:r>
              <a:rPr lang="en-US" sz="3400" b="1" dirty="0">
                <a:solidFill>
                  <a:schemeClr val="tx1"/>
                </a:solidFill>
              </a:rPr>
              <a:t>Kubernetes and Helm</a:t>
            </a:r>
            <a:endParaRPr lang="en-US" sz="3400" dirty="0"/>
          </a:p>
        </p:txBody>
      </p:sp>
      <p:sp>
        <p:nvSpPr>
          <p:cNvPr id="3" name="Module chip"/>
          <p:cNvSpPr/>
          <p:nvPr/>
        </p:nvSpPr>
        <p:spPr>
          <a:xfrm>
            <a:off x="7863840" y="502920"/>
            <a:ext cx="822960" cy="365760"/>
          </a:xfrm>
          <a:prstGeom prst="roundRect">
            <a:avLst>
              <a:gd name="adj" fmla="val 50000"/>
            </a:avLst>
          </a:prstGeom>
          <a:solidFill>
            <a:schemeClr val="accent1"/>
          </a:solidFill>
          <a:ln/>
        </p:spPr>
      </p:sp>
      <p:sp>
        <p:nvSpPr>
          <p:cNvPr id="4" name="Module chip label"/>
          <p:cNvSpPr txBox="1"/>
          <p:nvPr/>
        </p:nvSpPr>
        <p:spPr>
          <a:xfrm>
            <a:off x="7863840" y="502920"/>
            <a:ext cx="822960" cy="365760"/>
          </a:xfrm>
          <a:prstGeom prst="rect">
            <a:avLst/>
          </a:prstGeom>
          <a:noFill/>
          <a:ln/>
        </p:spPr>
        <p:txBody>
          <a:bodyPr wrap="square" lIns="0" tIns="0" rIns="0" bIns="0" rtlCol="0" anchor="ctr"/>
          <a:lstStyle/>
          <a:p>
            <a:pPr algn="ctr" indent="0" marL="0">
              <a:buNone/>
            </a:pPr>
            <a:r>
              <a:rPr lang="en-US" sz="1300" b="1" spc="100" kern="0" dirty="0">
                <a:solidFill>
                  <a:schemeClr val="bg1"/>
                </a:solidFill>
              </a:rPr>
              <a:t>M8</a:t>
            </a:r>
            <a:endParaRPr lang="en-US" sz="1300" dirty="0"/>
          </a:p>
        </p:txBody>
      </p:sp>
      <p:sp>
        <p:nvSpPr>
          <p:cNvPr id="6" name="Backend circle"/>
          <p:cNvSpPr/>
          <p:nvPr/>
        </p:nvSpPr>
        <p:spPr>
          <a:xfrm>
            <a:off x="457200" y="1261872"/>
            <a:ext cx="420624" cy="420624"/>
          </a:xfrm>
          <a:prstGeom prst="ellipse">
            <a:avLst/>
          </a:prstGeom>
          <a:solidFill>
            <a:schemeClr val="tx2"/>
          </a:solidFill>
          <a:ln/>
        </p:spPr>
      </p:sp>
      <p:pic>
        <p:nvPicPr>
          <p:cNvPr id="7" name="Backend" descr="Backend">    </p:cNvPr>
          <p:cNvPicPr>
            <a:picLocks noChangeAspect="1"/>
          </p:cNvPicPr>
          <p:nvPr/>
        </p:nvPicPr>
        <p:blipFill>
          <a:blip r:embed="rId1"/>
          <a:stretch>
            <a:fillRect/>
          </a:stretch>
        </p:blipFill>
        <p:spPr>
          <a:xfrm>
            <a:off x="570768" y="1375440"/>
            <a:ext cx="193487" cy="193487"/>
          </a:xfrm>
          <a:prstGeom prst="rect">
            <a:avLst/>
          </a:prstGeom>
        </p:spPr>
      </p:pic>
      <p:sp>
        <p:nvSpPr>
          <p:cNvPr id="8" name="Chart item 1"/>
          <p:cNvSpPr txBox="1"/>
          <p:nvPr/>
        </p:nvSpPr>
        <p:spPr>
          <a:xfrm>
            <a:off x="1051560" y="1234440"/>
            <a:ext cx="3154680" cy="502920"/>
          </a:xfrm>
          <a:prstGeom prst="rect">
            <a:avLst/>
          </a:prstGeom>
          <a:noFill/>
          <a:ln/>
        </p:spPr>
        <p:txBody>
          <a:bodyPr wrap="square" lIns="0" tIns="0" rIns="0" bIns="0" rtlCol="0" anchor="ctr"/>
          <a:lstStyle/>
          <a:p>
            <a:pPr indent="0" marL="0">
              <a:buNone/>
            </a:pPr>
            <a:r>
              <a:rPr lang="en-US" sz="1400" b="1" dirty="0">
                <a:solidFill>
                  <a:schemeClr val="tx1"/>
                </a:solidFill>
              </a:rPr>
              <a:t>Backend: </a:t>
            </a:r>
            <a:pPr indent="0" marL="0">
              <a:buNone/>
            </a:pPr>
            <a:r>
              <a:rPr lang="en-US" sz="1400" dirty="0">
                <a:solidFill>
                  <a:schemeClr val="tx1"/>
                </a:solidFill>
              </a:rPr>
              <a:t>2 replicas, ClusterIP service</a:t>
            </a:r>
            <a:endParaRPr lang="en-US" sz="1400" dirty="0"/>
          </a:p>
        </p:txBody>
      </p:sp>
      <p:sp>
        <p:nvSpPr>
          <p:cNvPr id="9" name="Frontend circle"/>
          <p:cNvSpPr/>
          <p:nvPr/>
        </p:nvSpPr>
        <p:spPr>
          <a:xfrm>
            <a:off x="457200" y="1828800"/>
            <a:ext cx="420624" cy="420624"/>
          </a:xfrm>
          <a:prstGeom prst="ellipse">
            <a:avLst/>
          </a:prstGeom>
          <a:solidFill>
            <a:schemeClr val="tx2"/>
          </a:solidFill>
          <a:ln/>
        </p:spPr>
      </p:sp>
      <p:pic>
        <p:nvPicPr>
          <p:cNvPr id="10" name="Frontend" descr="Frontend">    </p:cNvPr>
          <p:cNvPicPr>
            <a:picLocks noChangeAspect="1"/>
          </p:cNvPicPr>
          <p:nvPr/>
        </p:nvPicPr>
        <p:blipFill>
          <a:blip r:embed="rId2"/>
          <a:stretch>
            <a:fillRect/>
          </a:stretch>
        </p:blipFill>
        <p:spPr>
          <a:xfrm>
            <a:off x="570768" y="1942368"/>
            <a:ext cx="193487" cy="193487"/>
          </a:xfrm>
          <a:prstGeom prst="rect">
            <a:avLst/>
          </a:prstGeom>
        </p:spPr>
      </p:pic>
      <p:sp>
        <p:nvSpPr>
          <p:cNvPr id="11" name="Chart item 2"/>
          <p:cNvSpPr txBox="1"/>
          <p:nvPr/>
        </p:nvSpPr>
        <p:spPr>
          <a:xfrm>
            <a:off x="1051560" y="1801368"/>
            <a:ext cx="3154680" cy="502920"/>
          </a:xfrm>
          <a:prstGeom prst="rect">
            <a:avLst/>
          </a:prstGeom>
          <a:noFill/>
          <a:ln/>
        </p:spPr>
        <p:txBody>
          <a:bodyPr wrap="square" lIns="0" tIns="0" rIns="0" bIns="0" rtlCol="0" anchor="ctr"/>
          <a:lstStyle/>
          <a:p>
            <a:pPr indent="0" marL="0">
              <a:buNone/>
            </a:pPr>
            <a:r>
              <a:rPr lang="en-US" sz="1400" b="1" dirty="0">
                <a:solidFill>
                  <a:schemeClr val="tx1"/>
                </a:solidFill>
              </a:rPr>
              <a:t>Frontend: </a:t>
            </a:r>
            <a:pPr indent="0" marL="0">
              <a:buNone/>
            </a:pPr>
            <a:r>
              <a:rPr lang="en-US" sz="1400" dirty="0">
                <a:solidFill>
                  <a:schemeClr val="tx1"/>
                </a:solidFill>
              </a:rPr>
              <a:t>2 replicas, ClusterIP service</a:t>
            </a:r>
            <a:endParaRPr lang="en-US" sz="1400" dirty="0"/>
          </a:p>
        </p:txBody>
      </p:sp>
      <p:sp>
        <p:nvSpPr>
          <p:cNvPr id="12" name="Postgres circle"/>
          <p:cNvSpPr/>
          <p:nvPr/>
        </p:nvSpPr>
        <p:spPr>
          <a:xfrm>
            <a:off x="457200" y="2395728"/>
            <a:ext cx="420624" cy="420624"/>
          </a:xfrm>
          <a:prstGeom prst="ellipse">
            <a:avLst/>
          </a:prstGeom>
          <a:solidFill>
            <a:schemeClr val="tx2"/>
          </a:solidFill>
          <a:ln/>
        </p:spPr>
      </p:sp>
      <p:pic>
        <p:nvPicPr>
          <p:cNvPr id="13" name="Postgres" descr="Postgres">    </p:cNvPr>
          <p:cNvPicPr>
            <a:picLocks noChangeAspect="1"/>
          </p:cNvPicPr>
          <p:nvPr/>
        </p:nvPicPr>
        <p:blipFill>
          <a:blip r:embed="rId3"/>
          <a:stretch>
            <a:fillRect/>
          </a:stretch>
        </p:blipFill>
        <p:spPr>
          <a:xfrm>
            <a:off x="570768" y="2509296"/>
            <a:ext cx="193487" cy="193487"/>
          </a:xfrm>
          <a:prstGeom prst="rect">
            <a:avLst/>
          </a:prstGeom>
        </p:spPr>
      </p:pic>
      <p:sp>
        <p:nvSpPr>
          <p:cNvPr id="14" name="Chart item 3"/>
          <p:cNvSpPr txBox="1"/>
          <p:nvPr/>
        </p:nvSpPr>
        <p:spPr>
          <a:xfrm>
            <a:off x="1051560" y="2368296"/>
            <a:ext cx="3154680" cy="502920"/>
          </a:xfrm>
          <a:prstGeom prst="rect">
            <a:avLst/>
          </a:prstGeom>
          <a:noFill/>
          <a:ln/>
        </p:spPr>
        <p:txBody>
          <a:bodyPr wrap="square" lIns="0" tIns="0" rIns="0" bIns="0" rtlCol="0" anchor="ctr"/>
          <a:lstStyle/>
          <a:p>
            <a:pPr indent="0" marL="0">
              <a:buNone/>
            </a:pPr>
            <a:r>
              <a:rPr lang="en-US" sz="1400" b="1" dirty="0">
                <a:solidFill>
                  <a:schemeClr val="tx1"/>
                </a:solidFill>
              </a:rPr>
              <a:t>Postgres: </a:t>
            </a:r>
            <a:pPr indent="0" marL="0">
              <a:buNone/>
            </a:pPr>
            <a:r>
              <a:rPr lang="en-US" sz="1400" dirty="0">
                <a:solidFill>
                  <a:schemeClr val="tx1"/>
                </a:solidFill>
              </a:rPr>
              <a:t>StatefulSet with a 1Gi volume</a:t>
            </a:r>
            <a:endParaRPr lang="en-US" sz="1400" dirty="0"/>
          </a:p>
        </p:txBody>
      </p:sp>
      <p:sp>
        <p:nvSpPr>
          <p:cNvPr id="15" name="Migration circle"/>
          <p:cNvSpPr/>
          <p:nvPr/>
        </p:nvSpPr>
        <p:spPr>
          <a:xfrm>
            <a:off x="457200" y="2962656"/>
            <a:ext cx="420624" cy="420624"/>
          </a:xfrm>
          <a:prstGeom prst="ellipse">
            <a:avLst/>
          </a:prstGeom>
          <a:solidFill>
            <a:schemeClr val="tx2"/>
          </a:solidFill>
          <a:ln/>
        </p:spPr>
      </p:sp>
      <p:pic>
        <p:nvPicPr>
          <p:cNvPr id="16" name="Migration" descr="Migration">    </p:cNvPr>
          <p:cNvPicPr>
            <a:picLocks noChangeAspect="1"/>
          </p:cNvPicPr>
          <p:nvPr/>
        </p:nvPicPr>
        <p:blipFill>
          <a:blip r:embed="rId4"/>
          <a:stretch>
            <a:fillRect/>
          </a:stretch>
        </p:blipFill>
        <p:spPr>
          <a:xfrm>
            <a:off x="570768" y="3076224"/>
            <a:ext cx="193487" cy="193487"/>
          </a:xfrm>
          <a:prstGeom prst="rect">
            <a:avLst/>
          </a:prstGeom>
        </p:spPr>
      </p:pic>
      <p:sp>
        <p:nvSpPr>
          <p:cNvPr id="17" name="Chart item 4"/>
          <p:cNvSpPr txBox="1"/>
          <p:nvPr/>
        </p:nvSpPr>
        <p:spPr>
          <a:xfrm>
            <a:off x="1051560" y="2935224"/>
            <a:ext cx="3154680" cy="502920"/>
          </a:xfrm>
          <a:prstGeom prst="rect">
            <a:avLst/>
          </a:prstGeom>
          <a:noFill/>
          <a:ln/>
        </p:spPr>
        <p:txBody>
          <a:bodyPr wrap="square" lIns="0" tIns="0" rIns="0" bIns="0" rtlCol="0" anchor="ctr"/>
          <a:lstStyle/>
          <a:p>
            <a:pPr indent="0" marL="0">
              <a:buNone/>
            </a:pPr>
            <a:r>
              <a:rPr lang="en-US" sz="1400" b="1" dirty="0">
                <a:solidFill>
                  <a:schemeClr val="tx1"/>
                </a:solidFill>
              </a:rPr>
              <a:t>Migration: </a:t>
            </a:r>
            <a:pPr indent="0" marL="0">
              <a:buNone/>
            </a:pPr>
            <a:r>
              <a:rPr lang="en-US" sz="1400" dirty="0">
                <a:solidFill>
                  <a:schemeClr val="tx1"/>
                </a:solidFill>
              </a:rPr>
              <a:t>Job running alembic upgrade head</a:t>
            </a:r>
            <a:endParaRPr lang="en-US" sz="1400" dirty="0"/>
          </a:p>
        </p:txBody>
      </p:sp>
      <p:sp>
        <p:nvSpPr>
          <p:cNvPr id="18" name="HPA circle"/>
          <p:cNvSpPr/>
          <p:nvPr/>
        </p:nvSpPr>
        <p:spPr>
          <a:xfrm>
            <a:off x="457200" y="3529584"/>
            <a:ext cx="420624" cy="420624"/>
          </a:xfrm>
          <a:prstGeom prst="ellipse">
            <a:avLst/>
          </a:prstGeom>
          <a:solidFill>
            <a:schemeClr val="accent1"/>
          </a:solidFill>
          <a:ln/>
        </p:spPr>
      </p:sp>
      <p:pic>
        <p:nvPicPr>
          <p:cNvPr id="19" name="HPA" descr="HPA">    </p:cNvPr>
          <p:cNvPicPr>
            <a:picLocks noChangeAspect="1"/>
          </p:cNvPicPr>
          <p:nvPr/>
        </p:nvPicPr>
        <p:blipFill>
          <a:blip r:embed="rId5"/>
          <a:stretch>
            <a:fillRect/>
          </a:stretch>
        </p:blipFill>
        <p:spPr>
          <a:xfrm>
            <a:off x="570768" y="3643152"/>
            <a:ext cx="193487" cy="193487"/>
          </a:xfrm>
          <a:prstGeom prst="rect">
            <a:avLst/>
          </a:prstGeom>
        </p:spPr>
      </p:pic>
      <p:sp>
        <p:nvSpPr>
          <p:cNvPr id="20" name="Chart item 5"/>
          <p:cNvSpPr txBox="1"/>
          <p:nvPr/>
        </p:nvSpPr>
        <p:spPr>
          <a:xfrm>
            <a:off x="1051560" y="3502152"/>
            <a:ext cx="3154680" cy="502920"/>
          </a:xfrm>
          <a:prstGeom prst="rect">
            <a:avLst/>
          </a:prstGeom>
          <a:noFill/>
          <a:ln/>
        </p:spPr>
        <p:txBody>
          <a:bodyPr wrap="square" lIns="0" tIns="0" rIns="0" bIns="0" rtlCol="0" anchor="ctr"/>
          <a:lstStyle/>
          <a:p>
            <a:pPr indent="0" marL="0">
              <a:buNone/>
            </a:pPr>
            <a:r>
              <a:rPr lang="en-US" sz="1400" b="1" dirty="0">
                <a:solidFill>
                  <a:schemeClr val="tx1"/>
                </a:solidFill>
              </a:rPr>
              <a:t>HPA: </a:t>
            </a:r>
            <a:pPr indent="0" marL="0">
              <a:buNone/>
            </a:pPr>
            <a:r>
              <a:rPr lang="en-US" sz="1400" dirty="0">
                <a:solidFill>
                  <a:schemeClr val="tx1"/>
                </a:solidFill>
              </a:rPr>
              <a:t>backend scales 2 to 4 pods at 60% CPU</a:t>
            </a:r>
            <a:endParaRPr lang="en-US" sz="1400" dirty="0"/>
          </a:p>
        </p:txBody>
      </p:sp>
      <p:sp>
        <p:nvSpPr>
          <p:cNvPr id="21" name="Ingress circle"/>
          <p:cNvSpPr/>
          <p:nvPr/>
        </p:nvSpPr>
        <p:spPr>
          <a:xfrm>
            <a:off x="457200" y="4096512"/>
            <a:ext cx="420624" cy="420624"/>
          </a:xfrm>
          <a:prstGeom prst="ellipse">
            <a:avLst/>
          </a:prstGeom>
          <a:solidFill>
            <a:schemeClr val="accent1"/>
          </a:solidFill>
          <a:ln/>
        </p:spPr>
      </p:sp>
      <p:pic>
        <p:nvPicPr>
          <p:cNvPr id="22" name="Ingress" descr="Ingress">    </p:cNvPr>
          <p:cNvPicPr>
            <a:picLocks noChangeAspect="1"/>
          </p:cNvPicPr>
          <p:nvPr/>
        </p:nvPicPr>
        <p:blipFill>
          <a:blip r:embed="rId6"/>
          <a:stretch>
            <a:fillRect/>
          </a:stretch>
        </p:blipFill>
        <p:spPr>
          <a:xfrm>
            <a:off x="570768" y="4210080"/>
            <a:ext cx="193487" cy="193487"/>
          </a:xfrm>
          <a:prstGeom prst="rect">
            <a:avLst/>
          </a:prstGeom>
        </p:spPr>
      </p:pic>
      <p:sp>
        <p:nvSpPr>
          <p:cNvPr id="23" name="Chart item 6"/>
          <p:cNvSpPr txBox="1"/>
          <p:nvPr/>
        </p:nvSpPr>
        <p:spPr>
          <a:xfrm>
            <a:off x="1051560" y="4069080"/>
            <a:ext cx="3154680" cy="502920"/>
          </a:xfrm>
          <a:prstGeom prst="rect">
            <a:avLst/>
          </a:prstGeom>
          <a:noFill/>
          <a:ln/>
        </p:spPr>
        <p:txBody>
          <a:bodyPr wrap="square" lIns="0" tIns="0" rIns="0" bIns="0" rtlCol="0" anchor="ctr"/>
          <a:lstStyle/>
          <a:p>
            <a:pPr indent="0" marL="0">
              <a:buNone/>
            </a:pPr>
            <a:r>
              <a:rPr lang="en-US" sz="1400" b="1" dirty="0">
                <a:solidFill>
                  <a:schemeClr val="tx1"/>
                </a:solidFill>
              </a:rPr>
              <a:t>Ingress: </a:t>
            </a:r>
            <a:pPr indent="0" marL="0">
              <a:buNone/>
            </a:pPr>
            <a:r>
              <a:rPr lang="en-US" sz="1400" dirty="0">
                <a:solidFill>
                  <a:schemeClr val="tx1"/>
                </a:solidFill>
              </a:rPr>
              <a:t>/ to frontend, /api to backend</a:t>
            </a:r>
            <a:endParaRPr lang="en-US" sz="1400" dirty="0"/>
          </a:p>
        </p:txBody>
      </p:sp>
      <p:pic>
        <p:nvPicPr>
          <p:cNvPr id="24" name="Pods, services, helm release, ingress and HPA" descr="Pods, services, helm release, ingress and HPA">    </p:cNvPr>
          <p:cNvPicPr>
            <a:picLocks noChangeAspect="1"/>
          </p:cNvPicPr>
          <p:nvPr/>
        </p:nvPicPr>
        <p:blipFill>
          <a:blip r:embed="rId7"/>
          <a:stretch>
            <a:fillRect/>
          </a:stretch>
        </p:blipFill>
        <p:spPr>
          <a:xfrm>
            <a:off x="4434840" y="1280160"/>
            <a:ext cx="4251960" cy="2996214"/>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7040880" cy="731520"/>
          </a:xfrm>
          <a:prstGeom prst="rect">
            <a:avLst/>
          </a:prstGeom>
          <a:noFill/>
          <a:ln/>
        </p:spPr>
        <p:txBody>
          <a:bodyPr wrap="square" lIns="0" tIns="0" rIns="0" bIns="0" rtlCol="0" anchor="ctr"/>
          <a:lstStyle/>
          <a:p>
            <a:pPr algn="l" indent="0" marL="0">
              <a:buNone/>
            </a:pPr>
            <a:r>
              <a:rPr lang="en-US" sz="3400" b="1" dirty="0">
                <a:solidFill>
                  <a:schemeClr val="tx1"/>
                </a:solidFill>
              </a:rPr>
              <a:t>Ingress and autoscaling</a:t>
            </a:r>
            <a:endParaRPr lang="en-US" sz="3400" dirty="0"/>
          </a:p>
        </p:txBody>
      </p:sp>
      <p:sp>
        <p:nvSpPr>
          <p:cNvPr id="3" name="Module chip"/>
          <p:cNvSpPr/>
          <p:nvPr/>
        </p:nvSpPr>
        <p:spPr>
          <a:xfrm>
            <a:off x="7863840" y="502920"/>
            <a:ext cx="822960" cy="365760"/>
          </a:xfrm>
          <a:prstGeom prst="roundRect">
            <a:avLst>
              <a:gd name="adj" fmla="val 50000"/>
            </a:avLst>
          </a:prstGeom>
          <a:solidFill>
            <a:schemeClr val="accent1"/>
          </a:solidFill>
          <a:ln/>
        </p:spPr>
      </p:sp>
      <p:sp>
        <p:nvSpPr>
          <p:cNvPr id="4" name="Module chip label"/>
          <p:cNvSpPr txBox="1"/>
          <p:nvPr/>
        </p:nvSpPr>
        <p:spPr>
          <a:xfrm>
            <a:off x="7863840" y="502920"/>
            <a:ext cx="822960" cy="365760"/>
          </a:xfrm>
          <a:prstGeom prst="rect">
            <a:avLst/>
          </a:prstGeom>
          <a:noFill/>
          <a:ln/>
        </p:spPr>
        <p:txBody>
          <a:bodyPr wrap="square" lIns="0" tIns="0" rIns="0" bIns="0" rtlCol="0" anchor="ctr"/>
          <a:lstStyle/>
          <a:p>
            <a:pPr algn="ctr" indent="0" marL="0">
              <a:buNone/>
            </a:pPr>
            <a:r>
              <a:rPr lang="en-US" sz="1300" b="1" spc="100" kern="0" dirty="0">
                <a:solidFill>
                  <a:schemeClr val="bg1"/>
                </a:solidFill>
              </a:rPr>
              <a:t>M8</a:t>
            </a:r>
            <a:endParaRPr lang="en-US" sz="1300" dirty="0"/>
          </a:p>
        </p:txBody>
      </p:sp>
      <p:pic>
        <p:nvPicPr>
          <p:cNvPr id="6" name="BugTrack served through the ingress" descr="BugTrack served through the ingress">    </p:cNvPr>
          <p:cNvPicPr>
            <a:picLocks noChangeAspect="1"/>
          </p:cNvPicPr>
          <p:nvPr/>
        </p:nvPicPr>
        <p:blipFill>
          <a:blip r:embed="rId1"/>
          <a:stretch>
            <a:fillRect/>
          </a:stretch>
        </p:blipFill>
        <p:spPr>
          <a:xfrm>
            <a:off x="457200" y="1280160"/>
            <a:ext cx="4754880" cy="2862438"/>
          </a:xfrm>
          <a:prstGeom prst="rect">
            <a:avLst/>
          </a:prstGeom>
        </p:spPr>
      </p:pic>
      <p:sp>
        <p:nvSpPr>
          <p:cNvPr id="7" name="Ingress caption"/>
          <p:cNvSpPr txBox="1"/>
          <p:nvPr/>
        </p:nvSpPr>
        <p:spPr>
          <a:xfrm>
            <a:off x="457200" y="4251960"/>
            <a:ext cx="4754880" cy="411480"/>
          </a:xfrm>
          <a:prstGeom prst="rect">
            <a:avLst/>
          </a:prstGeom>
          <a:noFill/>
          <a:ln/>
        </p:spPr>
        <p:txBody>
          <a:bodyPr wrap="square" lIns="0" tIns="0" rIns="0" bIns="0" rtlCol="0" anchor="t"/>
          <a:lstStyle/>
          <a:p>
            <a:pPr indent="0" marL="0">
              <a:buNone/>
            </a:pPr>
            <a:r>
              <a:rPr lang="en-US" sz="1400" dirty="0">
                <a:solidFill>
                  <a:schemeClr val="tx1"/>
                </a:solidFill>
              </a:rPr>
              <a:t>Served through the nginx Ingress: / to the frontend, /api to the backend.</a:t>
            </a:r>
            <a:endParaRPr lang="en-US" sz="1400" dirty="0"/>
          </a:p>
        </p:txBody>
      </p:sp>
      <p:pic>
        <p:nvPicPr>
          <p:cNvPr id="8" name="HPA scaling the backend out" descr="HPA scaling the backend out">    </p:cNvPr>
          <p:cNvPicPr>
            <a:picLocks noChangeAspect="1"/>
          </p:cNvPicPr>
          <p:nvPr/>
        </p:nvPicPr>
        <p:blipFill>
          <a:blip r:embed="rId2"/>
          <a:stretch>
            <a:fillRect/>
          </a:stretch>
        </p:blipFill>
        <p:spPr>
          <a:xfrm>
            <a:off x="5440680" y="1280160"/>
            <a:ext cx="3246120" cy="2287433"/>
          </a:xfrm>
          <a:prstGeom prst="rect">
            <a:avLst/>
          </a:prstGeom>
        </p:spPr>
      </p:pic>
      <p:sp>
        <p:nvSpPr>
          <p:cNvPr id="9" name="HPA caption"/>
          <p:cNvSpPr txBox="1"/>
          <p:nvPr/>
        </p:nvSpPr>
        <p:spPr>
          <a:xfrm>
            <a:off x="5440680" y="3704753"/>
            <a:ext cx="3246120" cy="914400"/>
          </a:xfrm>
          <a:prstGeom prst="rect">
            <a:avLst/>
          </a:prstGeom>
          <a:noFill/>
          <a:ln/>
        </p:spPr>
        <p:txBody>
          <a:bodyPr wrap="square" lIns="0" tIns="0" rIns="0" bIns="0" rtlCol="0" anchor="t"/>
          <a:lstStyle/>
          <a:p>
            <a:pPr indent="0" marL="0">
              <a:buNone/>
            </a:pPr>
            <a:r>
              <a:rPr lang="en-US" sz="1400" b="1" dirty="0">
                <a:solidFill>
                  <a:schemeClr val="tx1"/>
                </a:solidFill>
              </a:rPr>
              <a:t>Scale out:</a:t>
            </a:r>
            <a:pPr indent="0" marL="0">
              <a:buNone/>
            </a:pPr>
            <a:r>
              <a:rPr lang="en-US" sz="1400" dirty="0">
                <a:solidFill>
                  <a:schemeClr val="tx1"/>
                </a:solidFill>
              </a:rPr>
              <a:t> the load test pushed CPU past the 60% target and the HPA added a third backend pod.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7040880" cy="731520"/>
          </a:xfrm>
          <a:prstGeom prst="rect">
            <a:avLst/>
          </a:prstGeom>
          <a:noFill/>
          <a:ln/>
        </p:spPr>
        <p:txBody>
          <a:bodyPr wrap="square" lIns="0" tIns="0" rIns="0" bIns="0" rtlCol="0" anchor="ctr"/>
          <a:lstStyle/>
          <a:p>
            <a:pPr algn="l" indent="0" marL="0">
              <a:buNone/>
            </a:pPr>
            <a:r>
              <a:rPr lang="en-US" sz="3400" b="1" dirty="0">
                <a:solidFill>
                  <a:schemeClr val="tx1"/>
                </a:solidFill>
              </a:rPr>
              <a:t>Metrics and targets</a:t>
            </a:r>
            <a:endParaRPr lang="en-US" sz="3400" dirty="0"/>
          </a:p>
        </p:txBody>
      </p:sp>
      <p:sp>
        <p:nvSpPr>
          <p:cNvPr id="3" name="Module chip"/>
          <p:cNvSpPr/>
          <p:nvPr/>
        </p:nvSpPr>
        <p:spPr>
          <a:xfrm>
            <a:off x="7863840" y="502920"/>
            <a:ext cx="822960" cy="365760"/>
          </a:xfrm>
          <a:prstGeom prst="roundRect">
            <a:avLst>
              <a:gd name="adj" fmla="val 50000"/>
            </a:avLst>
          </a:prstGeom>
          <a:solidFill>
            <a:schemeClr val="accent1"/>
          </a:solidFill>
          <a:ln/>
        </p:spPr>
      </p:sp>
      <p:sp>
        <p:nvSpPr>
          <p:cNvPr id="4" name="Module chip label"/>
          <p:cNvSpPr txBox="1"/>
          <p:nvPr/>
        </p:nvSpPr>
        <p:spPr>
          <a:xfrm>
            <a:off x="7863840" y="502920"/>
            <a:ext cx="822960" cy="365760"/>
          </a:xfrm>
          <a:prstGeom prst="rect">
            <a:avLst/>
          </a:prstGeom>
          <a:noFill/>
          <a:ln/>
        </p:spPr>
        <p:txBody>
          <a:bodyPr wrap="square" lIns="0" tIns="0" rIns="0" bIns="0" rtlCol="0" anchor="ctr"/>
          <a:lstStyle/>
          <a:p>
            <a:pPr algn="ctr" indent="0" marL="0">
              <a:buNone/>
            </a:pPr>
            <a:r>
              <a:rPr lang="en-US" sz="1300" b="1" spc="100" kern="0" dirty="0">
                <a:solidFill>
                  <a:schemeClr val="bg1"/>
                </a:solidFill>
              </a:rPr>
              <a:t>M9</a:t>
            </a:r>
            <a:endParaRPr lang="en-US" sz="1300" dirty="0"/>
          </a:p>
        </p:txBody>
      </p:sp>
      <p:pic>
        <p:nvPicPr>
          <p:cNvPr id="6" name="curl of the /metrics endpoint" descr="curl of the /metrics endpoint">    </p:cNvPr>
          <p:cNvPicPr>
            <a:picLocks noChangeAspect="1"/>
          </p:cNvPicPr>
          <p:nvPr/>
        </p:nvPicPr>
        <p:blipFill>
          <a:blip r:embed="rId1"/>
          <a:stretch>
            <a:fillRect/>
          </a:stretch>
        </p:blipFill>
        <p:spPr>
          <a:xfrm>
            <a:off x="457200" y="1280160"/>
            <a:ext cx="3840480" cy="2706258"/>
          </a:xfrm>
          <a:prstGeom prst="rect">
            <a:avLst/>
          </a:prstGeom>
        </p:spPr>
      </p:pic>
      <p:pic>
        <p:nvPicPr>
          <p:cNvPr id="7" name="Prometheus targets page, all UP" descr="Prometheus targets page, all UP">    </p:cNvPr>
          <p:cNvPicPr>
            <a:picLocks noChangeAspect="1"/>
          </p:cNvPicPr>
          <p:nvPr/>
        </p:nvPicPr>
        <p:blipFill>
          <a:blip r:embed="rId2"/>
          <a:stretch>
            <a:fillRect/>
          </a:stretch>
        </p:blipFill>
        <p:spPr>
          <a:xfrm>
            <a:off x="4526280" y="1280160"/>
            <a:ext cx="4160520" cy="2504633"/>
          </a:xfrm>
          <a:prstGeom prst="rect">
            <a:avLst/>
          </a:prstGeom>
        </p:spPr>
      </p:pic>
      <p:sp>
        <p:nvSpPr>
          <p:cNvPr id="8" name="Metrics caption"/>
          <p:cNvSpPr txBox="1"/>
          <p:nvPr/>
        </p:nvSpPr>
        <p:spPr>
          <a:xfrm>
            <a:off x="457200" y="4023360"/>
            <a:ext cx="3840480" cy="640080"/>
          </a:xfrm>
          <a:prstGeom prst="rect">
            <a:avLst/>
          </a:prstGeom>
          <a:noFill/>
          <a:ln/>
        </p:spPr>
        <p:txBody>
          <a:bodyPr wrap="square" lIns="0" tIns="0" rIns="0" bIns="0" rtlCol="0" anchor="t"/>
          <a:lstStyle/>
          <a:p>
            <a:pPr indent="0" marL="0">
              <a:buNone/>
            </a:pPr>
            <a:r>
              <a:rPr lang="en-US" sz="1400" b="1" dirty="0">
                <a:solidFill>
                  <a:schemeClr val="tx1"/>
                </a:solidFill>
              </a:rPr>
              <a:t>/metrics:</a:t>
            </a:r>
            <a:pPr indent="0" marL="0">
              <a:buNone/>
            </a:pPr>
            <a:r>
              <a:rPr lang="en-US" sz="1400" dirty="0">
                <a:solidFill>
                  <a:schemeClr val="tx1"/>
                </a:solidFill>
              </a:rPr>
              <a:t> FastAPI exposes request counts and latency histograms.</a:t>
            </a:r>
            <a:endParaRPr lang="en-US" sz="1400" dirty="0"/>
          </a:p>
        </p:txBody>
      </p:sp>
      <p:sp>
        <p:nvSpPr>
          <p:cNvPr id="9" name="Targets caption"/>
          <p:cNvSpPr txBox="1"/>
          <p:nvPr/>
        </p:nvSpPr>
        <p:spPr>
          <a:xfrm>
            <a:off x="4526280" y="4023360"/>
            <a:ext cx="4160520" cy="640080"/>
          </a:xfrm>
          <a:prstGeom prst="rect">
            <a:avLst/>
          </a:prstGeom>
          <a:noFill/>
          <a:ln/>
        </p:spPr>
        <p:txBody>
          <a:bodyPr wrap="square" lIns="0" tIns="0" rIns="0" bIns="0" rtlCol="0" anchor="t"/>
          <a:lstStyle/>
          <a:p>
            <a:pPr indent="0" marL="0">
              <a:buNone/>
            </a:pPr>
            <a:r>
              <a:rPr lang="en-US" sz="1400" b="1" dirty="0">
                <a:solidFill>
                  <a:schemeClr val="tx1"/>
                </a:solidFill>
              </a:rPr>
              <a:t>Targets:</a:t>
            </a:r>
            <a:pPr indent="0" marL="0">
              <a:buNone/>
            </a:pPr>
            <a:r>
              <a:rPr lang="en-US" sz="1400" dirty="0">
                <a:solidFill>
                  <a:schemeClr val="tx1"/>
                </a:solidFill>
              </a:rPr>
              <a:t> the ServiceMonitor makes Prometheus scrape every backend pod, 3 of 3 UP.</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7040880" cy="731520"/>
          </a:xfrm>
          <a:prstGeom prst="rect">
            <a:avLst/>
          </a:prstGeom>
          <a:noFill/>
          <a:ln/>
        </p:spPr>
        <p:txBody>
          <a:bodyPr wrap="square" lIns="0" tIns="0" rIns="0" bIns="0" rtlCol="0" anchor="ctr"/>
          <a:lstStyle/>
          <a:p>
            <a:pPr algn="l" indent="0" marL="0">
              <a:buNone/>
            </a:pPr>
            <a:r>
              <a:rPr lang="en-US" sz="3400" b="1" dirty="0">
                <a:solidFill>
                  <a:schemeClr val="tx1"/>
                </a:solidFill>
              </a:rPr>
              <a:t>Grafana dashboard</a:t>
            </a:r>
            <a:endParaRPr lang="en-US" sz="3400" dirty="0"/>
          </a:p>
        </p:txBody>
      </p:sp>
      <p:sp>
        <p:nvSpPr>
          <p:cNvPr id="3" name="Module chip"/>
          <p:cNvSpPr/>
          <p:nvPr/>
        </p:nvSpPr>
        <p:spPr>
          <a:xfrm>
            <a:off x="7863840" y="502920"/>
            <a:ext cx="822960" cy="365760"/>
          </a:xfrm>
          <a:prstGeom prst="roundRect">
            <a:avLst>
              <a:gd name="adj" fmla="val 50000"/>
            </a:avLst>
          </a:prstGeom>
          <a:solidFill>
            <a:schemeClr val="accent1"/>
          </a:solidFill>
          <a:ln/>
        </p:spPr>
      </p:sp>
      <p:sp>
        <p:nvSpPr>
          <p:cNvPr id="4" name="Module chip label"/>
          <p:cNvSpPr txBox="1"/>
          <p:nvPr/>
        </p:nvSpPr>
        <p:spPr>
          <a:xfrm>
            <a:off x="7863840" y="502920"/>
            <a:ext cx="822960" cy="365760"/>
          </a:xfrm>
          <a:prstGeom prst="rect">
            <a:avLst/>
          </a:prstGeom>
          <a:noFill/>
          <a:ln/>
        </p:spPr>
        <p:txBody>
          <a:bodyPr wrap="square" lIns="0" tIns="0" rIns="0" bIns="0" rtlCol="0" anchor="ctr"/>
          <a:lstStyle/>
          <a:p>
            <a:pPr algn="ctr" indent="0" marL="0">
              <a:buNone/>
            </a:pPr>
            <a:r>
              <a:rPr lang="en-US" sz="1300" b="1" spc="100" kern="0" dirty="0">
                <a:solidFill>
                  <a:schemeClr val="bg1"/>
                </a:solidFill>
              </a:rPr>
              <a:t>M9</a:t>
            </a:r>
            <a:endParaRPr lang="en-US" sz="1300" dirty="0"/>
          </a:p>
        </p:txBody>
      </p:sp>
      <p:pic>
        <p:nvPicPr>
          <p:cNvPr id="6" name="Grafana dashboard with live panels" descr="Grafana dashboard with live panels">    </p:cNvPr>
          <p:cNvPicPr>
            <a:picLocks noChangeAspect="1"/>
          </p:cNvPicPr>
          <p:nvPr/>
        </p:nvPicPr>
        <p:blipFill>
          <a:blip r:embed="rId1"/>
          <a:stretch>
            <a:fillRect/>
          </a:stretch>
        </p:blipFill>
        <p:spPr>
          <a:xfrm>
            <a:off x="457200" y="1280160"/>
            <a:ext cx="5212080" cy="3137672"/>
          </a:xfrm>
          <a:prstGeom prst="rect">
            <a:avLst/>
          </a:prstGeom>
        </p:spPr>
      </p:pic>
      <p:sp>
        <p:nvSpPr>
          <p:cNvPr id="7" name="Dashboard panels"/>
          <p:cNvSpPr txBox="1"/>
          <p:nvPr/>
        </p:nvSpPr>
        <p:spPr>
          <a:xfrm>
            <a:off x="5943600" y="1371600"/>
            <a:ext cx="2743200" cy="292608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chemeClr val="tx1"/>
                </a:solidFill>
              </a:rPr>
              <a:t>Requests per second, by route</a:t>
            </a:r>
            <a:endParaRPr lang="en-US" sz="1600" dirty="0"/>
          </a:p>
          <a:p>
            <a:pPr marL="203200" indent="-203200">
              <a:spcAft>
                <a:spcPts val="1200"/>
              </a:spcAft>
              <a:buSzPct val="100000"/>
              <a:buChar char="•"/>
            </a:pPr>
            <a:r>
              <a:rPr lang="en-US" sz="1600" dirty="0">
                <a:solidFill>
                  <a:schemeClr val="tx1"/>
                </a:solidFill>
              </a:rPr>
              <a:t>p95 latency</a:t>
            </a:r>
            <a:endParaRPr lang="en-US" sz="1600" dirty="0"/>
          </a:p>
          <a:p>
            <a:pPr marL="203200" indent="-203200">
              <a:spcAft>
                <a:spcPts val="1200"/>
              </a:spcAft>
              <a:buSzPct val="100000"/>
              <a:buChar char="•"/>
            </a:pPr>
            <a:r>
              <a:rPr lang="en-US" sz="1600" dirty="0">
                <a:solidFill>
                  <a:schemeClr val="tx1"/>
                </a:solidFill>
              </a:rPr>
              <a:t>Error responses (4xx and 5xx), 0 under load</a:t>
            </a:r>
            <a:endParaRPr lang="en-US" sz="1600" dirty="0"/>
          </a:p>
          <a:p>
            <a:pPr marL="203200" indent="-203200">
              <a:spcAft>
                <a:spcPts val="1200"/>
              </a:spcAft>
              <a:buSzPct val="100000"/>
              <a:buChar char="•"/>
            </a:pPr>
            <a:r>
              <a:rPr lang="en-US" sz="1600" dirty="0">
                <a:solidFill>
                  <a:schemeClr val="tx1"/>
                </a:solidFill>
              </a:rPr>
              <a:t>Backend pods up, 3 after the HPA scaled out</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7040880" cy="731520"/>
          </a:xfrm>
          <a:prstGeom prst="rect">
            <a:avLst/>
          </a:prstGeom>
          <a:noFill/>
          <a:ln/>
        </p:spPr>
        <p:txBody>
          <a:bodyPr wrap="square" lIns="0" tIns="0" rIns="0" bIns="0" rtlCol="0" anchor="ctr"/>
          <a:lstStyle/>
          <a:p>
            <a:pPr algn="l" indent="0" marL="0">
              <a:buNone/>
            </a:pPr>
            <a:r>
              <a:rPr lang="en-US" sz="3400" b="1" dirty="0">
                <a:solidFill>
                  <a:schemeClr val="tx1"/>
                </a:solidFill>
              </a:rPr>
              <a:t>Troubleshooting</a:t>
            </a:r>
            <a:endParaRPr lang="en-US" sz="3400" dirty="0"/>
          </a:p>
        </p:txBody>
      </p:sp>
      <p:sp>
        <p:nvSpPr>
          <p:cNvPr id="3" name="Module chip"/>
          <p:cNvSpPr/>
          <p:nvPr/>
        </p:nvSpPr>
        <p:spPr>
          <a:xfrm>
            <a:off x="7863840" y="502920"/>
            <a:ext cx="822960" cy="365760"/>
          </a:xfrm>
          <a:prstGeom prst="roundRect">
            <a:avLst>
              <a:gd name="adj" fmla="val 50000"/>
            </a:avLst>
          </a:prstGeom>
          <a:solidFill>
            <a:schemeClr val="accent1"/>
          </a:solidFill>
          <a:ln/>
        </p:spPr>
      </p:sp>
      <p:sp>
        <p:nvSpPr>
          <p:cNvPr id="4" name="Module chip label"/>
          <p:cNvSpPr txBox="1"/>
          <p:nvPr/>
        </p:nvSpPr>
        <p:spPr>
          <a:xfrm>
            <a:off x="7863840" y="502920"/>
            <a:ext cx="822960" cy="365760"/>
          </a:xfrm>
          <a:prstGeom prst="rect">
            <a:avLst/>
          </a:prstGeom>
          <a:noFill/>
          <a:ln/>
        </p:spPr>
        <p:txBody>
          <a:bodyPr wrap="square" lIns="0" tIns="0" rIns="0" bIns="0" rtlCol="0" anchor="ctr"/>
          <a:lstStyle/>
          <a:p>
            <a:pPr algn="ctr" indent="0" marL="0">
              <a:buNone/>
            </a:pPr>
            <a:r>
              <a:rPr lang="en-US" sz="1300" b="1" spc="100" kern="0" dirty="0">
                <a:solidFill>
                  <a:schemeClr val="bg1"/>
                </a:solidFill>
              </a:rPr>
              <a:t>FIXES</a:t>
            </a:r>
            <a:endParaRPr lang="en-US" sz="1300" dirty="0"/>
          </a:p>
        </p:txBody>
      </p:sp>
      <p:pic>
        <p:nvPicPr>
          <p:cNvPr id="6" name="Bad image tag terminal output" descr="Bad image tag terminal output">    </p:cNvPr>
          <p:cNvPicPr>
            <a:picLocks noChangeAspect="1"/>
          </p:cNvPicPr>
          <p:nvPr/>
        </p:nvPicPr>
        <p:blipFill>
          <a:blip r:embed="rId1"/>
          <a:stretch>
            <a:fillRect/>
          </a:stretch>
        </p:blipFill>
        <p:spPr>
          <a:xfrm>
            <a:off x="457200" y="1188720"/>
            <a:ext cx="2286000" cy="1610868"/>
          </a:xfrm>
          <a:prstGeom prst="rect">
            <a:avLst/>
          </a:prstGeom>
        </p:spPr>
      </p:pic>
      <p:sp>
        <p:nvSpPr>
          <p:cNvPr id="7" name="Bad image tag heading"/>
          <p:cNvSpPr txBox="1"/>
          <p:nvPr/>
        </p:nvSpPr>
        <p:spPr>
          <a:xfrm>
            <a:off x="3017520" y="1188720"/>
            <a:ext cx="5669280" cy="365760"/>
          </a:xfrm>
          <a:prstGeom prst="rect">
            <a:avLst/>
          </a:prstGeom>
          <a:noFill/>
          <a:ln/>
        </p:spPr>
        <p:txBody>
          <a:bodyPr wrap="square" lIns="0" tIns="0" rIns="0" bIns="0" rtlCol="0" anchor="t"/>
          <a:lstStyle/>
          <a:p>
            <a:pPr indent="0" marL="0">
              <a:buNone/>
            </a:pPr>
            <a:r>
              <a:rPr lang="en-US" sz="1800" b="1" dirty="0">
                <a:solidFill>
                  <a:schemeClr val="tx1"/>
                </a:solidFill>
              </a:rPr>
              <a:t>Bad image tag</a:t>
            </a:r>
            <a:endParaRPr lang="en-US" sz="1800" dirty="0"/>
          </a:p>
        </p:txBody>
      </p:sp>
      <p:sp>
        <p:nvSpPr>
          <p:cNvPr id="8" name="Bad image tag steps"/>
          <p:cNvSpPr txBox="1"/>
          <p:nvPr/>
        </p:nvSpPr>
        <p:spPr>
          <a:xfrm>
            <a:off x="3017520" y="1645920"/>
            <a:ext cx="5669280" cy="1143000"/>
          </a:xfrm>
          <a:prstGeom prst="rect">
            <a:avLst/>
          </a:prstGeom>
          <a:noFill/>
          <a:ln/>
        </p:spPr>
        <p:txBody>
          <a:bodyPr wrap="square" lIns="0" tIns="0" rIns="0" bIns="0" rtlCol="0" anchor="t"/>
          <a:lstStyle/>
          <a:p>
            <a:pPr indent="0" marL="0">
              <a:buNone/>
            </a:pPr>
            <a:r>
              <a:rPr lang="en-US" sz="1400" b="1" dirty="0">
                <a:solidFill>
                  <a:schemeClr val="tx1"/>
                </a:solidFill>
              </a:rPr>
              <a:t>Symptom: </a:t>
            </a:r>
            <a:pPr indent="0" marL="0">
              <a:spcAft>
                <a:spcPts val="600"/>
              </a:spcAft>
              <a:buNone/>
            </a:pPr>
            <a:r>
              <a:rPr lang="en-US" sz="1400" dirty="0">
                <a:solidFill>
                  <a:schemeClr val="tx1"/>
                </a:solidFill>
              </a:rPr>
              <a:t>ErrImagePull, then ImagePullBackOff</a:t>
            </a:r>
            <a:endParaRPr lang="en-US" sz="1400" dirty="0"/>
          </a:p>
          <a:p>
            <a:pPr indent="0" marL="0">
              <a:buNone/>
            </a:pPr>
            <a:r>
              <a:rPr lang="en-US" sz="1400" b="1" dirty="0">
                <a:solidFill>
                  <a:schemeClr val="tx1"/>
                </a:solidFill>
              </a:rPr>
              <a:t>Cause: </a:t>
            </a:r>
            <a:pPr indent="0" marL="0">
              <a:spcAft>
                <a:spcPts val="600"/>
              </a:spcAft>
              <a:buNone/>
            </a:pPr>
            <a:r>
              <a:rPr lang="en-US" sz="1400" dirty="0">
                <a:solidFill>
                  <a:schemeClr val="tx1"/>
                </a:solidFill>
              </a:rPr>
              <a:t>the tag does not exist; GHCR answers a missing tag with 403</a:t>
            </a:r>
            <a:endParaRPr lang="en-US" sz="1400" dirty="0"/>
          </a:p>
          <a:p>
            <a:pPr indent="0" marL="0">
              <a:buNone/>
            </a:pPr>
            <a:r>
              <a:rPr lang="en-US" sz="1400" b="1" dirty="0">
                <a:solidFill>
                  <a:schemeClr val="tx1"/>
                </a:solidFill>
              </a:rPr>
              <a:t>Fix: </a:t>
            </a:r>
            <a:pPr indent="0" marL="0">
              <a:spcAft>
                <a:spcPts val="600"/>
              </a:spcAft>
              <a:buNone/>
            </a:pPr>
            <a:r>
              <a:rPr lang="en-US" sz="1400" dirty="0">
                <a:solidFill>
                  <a:schemeClr val="tx1"/>
                </a:solidFill>
              </a:rPr>
              <a:t>kubectl set image to a tag that exists, new pod is 1/1 Running</a:t>
            </a:r>
            <a:endParaRPr lang="en-US" sz="1400" dirty="0"/>
          </a:p>
        </p:txBody>
      </p:sp>
      <p:pic>
        <p:nvPicPr>
          <p:cNvPr id="9" name="Selector mismatch terminal output" descr="Selector mismatch terminal output">    </p:cNvPr>
          <p:cNvPicPr>
            <a:picLocks noChangeAspect="1"/>
          </p:cNvPicPr>
          <p:nvPr/>
        </p:nvPicPr>
        <p:blipFill>
          <a:blip r:embed="rId2"/>
          <a:stretch>
            <a:fillRect/>
          </a:stretch>
        </p:blipFill>
        <p:spPr>
          <a:xfrm>
            <a:off x="457200" y="2971800"/>
            <a:ext cx="2286000" cy="1610868"/>
          </a:xfrm>
          <a:prstGeom prst="rect">
            <a:avLst/>
          </a:prstGeom>
        </p:spPr>
      </p:pic>
      <p:sp>
        <p:nvSpPr>
          <p:cNvPr id="10" name="Selector mismatch heading"/>
          <p:cNvSpPr txBox="1"/>
          <p:nvPr/>
        </p:nvSpPr>
        <p:spPr>
          <a:xfrm>
            <a:off x="3017520" y="2971800"/>
            <a:ext cx="5669280" cy="365760"/>
          </a:xfrm>
          <a:prstGeom prst="rect">
            <a:avLst/>
          </a:prstGeom>
          <a:noFill/>
          <a:ln/>
        </p:spPr>
        <p:txBody>
          <a:bodyPr wrap="square" lIns="0" tIns="0" rIns="0" bIns="0" rtlCol="0" anchor="t"/>
          <a:lstStyle/>
          <a:p>
            <a:pPr indent="0" marL="0">
              <a:buNone/>
            </a:pPr>
            <a:r>
              <a:rPr lang="en-US" sz="1800" b="1" dirty="0">
                <a:solidFill>
                  <a:schemeClr val="tx1"/>
                </a:solidFill>
              </a:rPr>
              <a:t>Selector mismatch</a:t>
            </a:r>
            <a:endParaRPr lang="en-US" sz="1800" dirty="0"/>
          </a:p>
        </p:txBody>
      </p:sp>
      <p:sp>
        <p:nvSpPr>
          <p:cNvPr id="11" name="Selector mismatch steps"/>
          <p:cNvSpPr txBox="1"/>
          <p:nvPr/>
        </p:nvSpPr>
        <p:spPr>
          <a:xfrm>
            <a:off x="3017520" y="3429000"/>
            <a:ext cx="5669280" cy="1143000"/>
          </a:xfrm>
          <a:prstGeom prst="rect">
            <a:avLst/>
          </a:prstGeom>
          <a:noFill/>
          <a:ln/>
        </p:spPr>
        <p:txBody>
          <a:bodyPr wrap="square" lIns="0" tIns="0" rIns="0" bIns="0" rtlCol="0" anchor="t"/>
          <a:lstStyle/>
          <a:p>
            <a:pPr indent="0" marL="0">
              <a:buNone/>
            </a:pPr>
            <a:r>
              <a:rPr lang="en-US" sz="1400" b="1" dirty="0">
                <a:solidFill>
                  <a:schemeClr val="tx1"/>
                </a:solidFill>
              </a:rPr>
              <a:t>Symptom: </a:t>
            </a:r>
            <a:pPr indent="0" marL="0">
              <a:spcAft>
                <a:spcPts val="600"/>
              </a:spcAft>
              <a:buNone/>
            </a:pPr>
            <a:r>
              <a:rPr lang="en-US" sz="1400" dirty="0">
                <a:solidFill>
                  <a:schemeClr val="tx1"/>
                </a:solidFill>
              </a:rPr>
              <a:t>pod Running, but endpoints are &lt;none&gt;</a:t>
            </a:r>
            <a:endParaRPr lang="en-US" sz="1400" dirty="0"/>
          </a:p>
          <a:p>
            <a:pPr indent="0" marL="0">
              <a:buNone/>
            </a:pPr>
            <a:r>
              <a:rPr lang="en-US" sz="1400" b="1" dirty="0">
                <a:solidFill>
                  <a:schemeClr val="tx1"/>
                </a:solidFill>
              </a:rPr>
              <a:t>Cause: </a:t>
            </a:r>
            <a:pPr indent="0" marL="0">
              <a:spcAft>
                <a:spcPts val="600"/>
              </a:spcAft>
              <a:buNone/>
            </a:pPr>
            <a:r>
              <a:rPr lang="en-US" sz="1400" dirty="0">
                <a:solidFill>
                  <a:schemeClr val="tx1"/>
                </a:solidFill>
              </a:rPr>
              <a:t>Service selects app=tb-service, the pod is labelled app=tb-svc</a:t>
            </a:r>
            <a:endParaRPr lang="en-US" sz="1400" dirty="0"/>
          </a:p>
          <a:p>
            <a:pPr indent="0" marL="0">
              <a:buNone/>
            </a:pPr>
            <a:r>
              <a:rPr lang="en-US" sz="1400" b="1" dirty="0">
                <a:solidFill>
                  <a:schemeClr val="tx1"/>
                </a:solidFill>
              </a:rPr>
              <a:t>Fix: </a:t>
            </a:r>
            <a:pPr indent="0" marL="0">
              <a:spcAft>
                <a:spcPts val="600"/>
              </a:spcAft>
              <a:buNone/>
            </a:pPr>
            <a:r>
              <a:rPr lang="en-US" sz="1400" dirty="0">
                <a:solidFill>
                  <a:schemeClr val="tx1"/>
                </a:solidFill>
              </a:rPr>
              <a:t>patch the selector, the Pod IP appears under endpoints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7040880" cy="731520"/>
          </a:xfrm>
          <a:prstGeom prst="rect">
            <a:avLst/>
          </a:prstGeom>
          <a:noFill/>
          <a:ln/>
        </p:spPr>
        <p:txBody>
          <a:bodyPr wrap="square" lIns="0" tIns="0" rIns="0" bIns="0" rtlCol="0" anchor="ctr"/>
          <a:lstStyle/>
          <a:p>
            <a:pPr algn="l" indent="0" marL="0">
              <a:buNone/>
            </a:pPr>
            <a:r>
              <a:rPr lang="en-US" sz="3400" b="1" dirty="0">
                <a:solidFill>
                  <a:schemeClr val="tx1"/>
                </a:solidFill>
              </a:rPr>
              <a:t>Live demo flow</a:t>
            </a:r>
            <a:endParaRPr lang="en-US" sz="3400" dirty="0"/>
          </a:p>
        </p:txBody>
      </p:sp>
      <p:sp>
        <p:nvSpPr>
          <p:cNvPr id="3" name="Module chip"/>
          <p:cNvSpPr/>
          <p:nvPr/>
        </p:nvSpPr>
        <p:spPr>
          <a:xfrm>
            <a:off x="7863840" y="502920"/>
            <a:ext cx="822960" cy="365760"/>
          </a:xfrm>
          <a:prstGeom prst="roundRect">
            <a:avLst>
              <a:gd name="adj" fmla="val 50000"/>
            </a:avLst>
          </a:prstGeom>
          <a:solidFill>
            <a:schemeClr val="accent1"/>
          </a:solidFill>
          <a:ln/>
        </p:spPr>
      </p:sp>
      <p:sp>
        <p:nvSpPr>
          <p:cNvPr id="4" name="Module chip label"/>
          <p:cNvSpPr txBox="1"/>
          <p:nvPr/>
        </p:nvSpPr>
        <p:spPr>
          <a:xfrm>
            <a:off x="7863840" y="502920"/>
            <a:ext cx="822960" cy="365760"/>
          </a:xfrm>
          <a:prstGeom prst="rect">
            <a:avLst/>
          </a:prstGeom>
          <a:noFill/>
          <a:ln/>
        </p:spPr>
        <p:txBody>
          <a:bodyPr wrap="square" lIns="0" tIns="0" rIns="0" bIns="0" rtlCol="0" anchor="ctr"/>
          <a:lstStyle/>
          <a:p>
            <a:pPr algn="ctr" indent="0" marL="0">
              <a:buNone/>
            </a:pPr>
            <a:r>
              <a:rPr lang="en-US" sz="1300" b="1" spc="100" kern="0" dirty="0">
                <a:solidFill>
                  <a:schemeClr val="bg1"/>
                </a:solidFill>
              </a:rPr>
              <a:t>DEMO</a:t>
            </a:r>
            <a:endParaRPr lang="en-US" sz="1300" dirty="0"/>
          </a:p>
        </p:txBody>
      </p:sp>
      <p:sp>
        <p:nvSpPr>
          <p:cNvPr id="6" name="Demo step 1 badge"/>
          <p:cNvSpPr/>
          <p:nvPr/>
        </p:nvSpPr>
        <p:spPr>
          <a:xfrm>
            <a:off x="877824" y="1508760"/>
            <a:ext cx="640080" cy="640080"/>
          </a:xfrm>
          <a:prstGeom prst="ellipse">
            <a:avLst/>
          </a:prstGeom>
          <a:solidFill>
            <a:schemeClr val="tx2"/>
          </a:solidFill>
          <a:ln/>
        </p:spPr>
      </p:sp>
      <p:sp>
        <p:nvSpPr>
          <p:cNvPr id="7" name="Demo step 1 number"/>
          <p:cNvSpPr txBox="1"/>
          <p:nvPr/>
        </p:nvSpPr>
        <p:spPr>
          <a:xfrm>
            <a:off x="877824" y="150876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1</a:t>
            </a:r>
            <a:endParaRPr lang="en-US" sz="2400" dirty="0"/>
          </a:p>
        </p:txBody>
      </p:sp>
      <p:sp>
        <p:nvSpPr>
          <p:cNvPr id="8" name="Demo step 1 name"/>
          <p:cNvSpPr txBox="1"/>
          <p:nvPr/>
        </p:nvSpPr>
        <p:spPr>
          <a:xfrm>
            <a:off x="457200" y="2377440"/>
            <a:ext cx="1481328" cy="594360"/>
          </a:xfrm>
          <a:prstGeom prst="rect">
            <a:avLst/>
          </a:prstGeom>
          <a:noFill/>
          <a:ln/>
        </p:spPr>
        <p:txBody>
          <a:bodyPr wrap="square" lIns="0" tIns="0" rIns="0" bIns="0" rtlCol="0" anchor="t"/>
          <a:lstStyle/>
          <a:p>
            <a:pPr algn="ctr" indent="0" marL="0">
              <a:buNone/>
            </a:pPr>
            <a:r>
              <a:rPr lang="en-US" sz="1500" b="1" dirty="0">
                <a:solidFill>
                  <a:schemeClr val="tx1"/>
                </a:solidFill>
              </a:rPr>
              <a:t>Edit a string</a:t>
            </a:r>
            <a:endParaRPr lang="en-US" sz="1500" dirty="0"/>
          </a:p>
        </p:txBody>
      </p:sp>
      <p:sp>
        <p:nvSpPr>
          <p:cNvPr id="9" name="Demo step 1 detail"/>
          <p:cNvSpPr txBox="1"/>
          <p:nvPr/>
        </p:nvSpPr>
        <p:spPr>
          <a:xfrm>
            <a:off x="502920" y="3017520"/>
            <a:ext cx="1389888" cy="731520"/>
          </a:xfrm>
          <a:prstGeom prst="rect">
            <a:avLst/>
          </a:prstGeom>
          <a:noFill/>
          <a:ln/>
        </p:spPr>
        <p:txBody>
          <a:bodyPr wrap="square" lIns="0" tIns="0" rIns="0" bIns="0" rtlCol="0" anchor="t"/>
          <a:lstStyle/>
          <a:p>
            <a:pPr algn="ctr" indent="0" marL="0">
              <a:buNone/>
            </a:pPr>
            <a:r>
              <a:rPr lang="en-US" sz="1400" dirty="0">
                <a:solidFill>
                  <a:schemeClr val="accent4"/>
                </a:solidFill>
              </a:rPr>
              <a:t>frontend/src/App.jsx</a:t>
            </a:r>
            <a:endParaRPr lang="en-US" sz="1400" dirty="0"/>
          </a:p>
        </p:txBody>
      </p:sp>
      <p:sp>
        <p:nvSpPr>
          <p:cNvPr id="10" name="Demo step 2 badge"/>
          <p:cNvSpPr/>
          <p:nvPr/>
        </p:nvSpPr>
        <p:spPr>
          <a:xfrm>
            <a:off x="2564892" y="1508760"/>
            <a:ext cx="640080" cy="640080"/>
          </a:xfrm>
          <a:prstGeom prst="ellipse">
            <a:avLst/>
          </a:prstGeom>
          <a:solidFill>
            <a:schemeClr val="tx2"/>
          </a:solidFill>
          <a:ln/>
        </p:spPr>
      </p:sp>
      <p:sp>
        <p:nvSpPr>
          <p:cNvPr id="11" name="Demo step 2 number"/>
          <p:cNvSpPr txBox="1"/>
          <p:nvPr/>
        </p:nvSpPr>
        <p:spPr>
          <a:xfrm>
            <a:off x="2564892" y="150876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2</a:t>
            </a:r>
            <a:endParaRPr lang="en-US" sz="2400" dirty="0"/>
          </a:p>
        </p:txBody>
      </p:sp>
      <p:sp>
        <p:nvSpPr>
          <p:cNvPr id="12" name="Demo step 2 name"/>
          <p:cNvSpPr txBox="1"/>
          <p:nvPr/>
        </p:nvSpPr>
        <p:spPr>
          <a:xfrm>
            <a:off x="2144268" y="2377440"/>
            <a:ext cx="1481328" cy="594360"/>
          </a:xfrm>
          <a:prstGeom prst="rect">
            <a:avLst/>
          </a:prstGeom>
          <a:noFill/>
          <a:ln/>
        </p:spPr>
        <p:txBody>
          <a:bodyPr wrap="square" lIns="0" tIns="0" rIns="0" bIns="0" rtlCol="0" anchor="t"/>
          <a:lstStyle/>
          <a:p>
            <a:pPr algn="ctr" indent="0" marL="0">
              <a:buNone/>
            </a:pPr>
            <a:r>
              <a:rPr lang="en-US" sz="1500" b="1" dirty="0">
                <a:solidFill>
                  <a:schemeClr val="tx1"/>
                </a:solidFill>
              </a:rPr>
              <a:t>Push to main</a:t>
            </a:r>
            <a:endParaRPr lang="en-US" sz="1500" dirty="0"/>
          </a:p>
        </p:txBody>
      </p:sp>
      <p:sp>
        <p:nvSpPr>
          <p:cNvPr id="13" name="Demo step 2 detail"/>
          <p:cNvSpPr txBox="1"/>
          <p:nvPr/>
        </p:nvSpPr>
        <p:spPr>
          <a:xfrm>
            <a:off x="2189988" y="3017520"/>
            <a:ext cx="1389888" cy="731520"/>
          </a:xfrm>
          <a:prstGeom prst="rect">
            <a:avLst/>
          </a:prstGeom>
          <a:noFill/>
          <a:ln/>
        </p:spPr>
        <p:txBody>
          <a:bodyPr wrap="square" lIns="0" tIns="0" rIns="0" bIns="0" rtlCol="0" anchor="t"/>
          <a:lstStyle/>
          <a:p>
            <a:pPr algn="ctr" indent="0" marL="0">
              <a:buNone/>
            </a:pPr>
            <a:r>
              <a:rPr lang="en-US" sz="1400" dirty="0">
                <a:solidFill>
                  <a:schemeClr val="accent4"/>
                </a:solidFill>
              </a:rPr>
              <a:t>git commit and push</a:t>
            </a:r>
            <a:endParaRPr lang="en-US" sz="1400" dirty="0"/>
          </a:p>
        </p:txBody>
      </p:sp>
      <p:sp>
        <p:nvSpPr>
          <p:cNvPr id="14" name="Demo step 3 badge"/>
          <p:cNvSpPr/>
          <p:nvPr/>
        </p:nvSpPr>
        <p:spPr>
          <a:xfrm>
            <a:off x="4251960" y="1508760"/>
            <a:ext cx="640080" cy="640080"/>
          </a:xfrm>
          <a:prstGeom prst="ellipse">
            <a:avLst/>
          </a:prstGeom>
          <a:solidFill>
            <a:schemeClr val="tx2"/>
          </a:solidFill>
          <a:ln/>
        </p:spPr>
      </p:sp>
      <p:sp>
        <p:nvSpPr>
          <p:cNvPr id="15" name="Demo step 3 number"/>
          <p:cNvSpPr txBox="1"/>
          <p:nvPr/>
        </p:nvSpPr>
        <p:spPr>
          <a:xfrm>
            <a:off x="4251960" y="150876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3</a:t>
            </a:r>
            <a:endParaRPr lang="en-US" sz="2400" dirty="0"/>
          </a:p>
        </p:txBody>
      </p:sp>
      <p:sp>
        <p:nvSpPr>
          <p:cNvPr id="16" name="Demo step 3 name"/>
          <p:cNvSpPr txBox="1"/>
          <p:nvPr/>
        </p:nvSpPr>
        <p:spPr>
          <a:xfrm>
            <a:off x="3831336" y="2377440"/>
            <a:ext cx="1481328" cy="594360"/>
          </a:xfrm>
          <a:prstGeom prst="rect">
            <a:avLst/>
          </a:prstGeom>
          <a:noFill/>
          <a:ln/>
        </p:spPr>
        <p:txBody>
          <a:bodyPr wrap="square" lIns="0" tIns="0" rIns="0" bIns="0" rtlCol="0" anchor="t"/>
          <a:lstStyle/>
          <a:p>
            <a:pPr algn="ctr" indent="0" marL="0">
              <a:buNone/>
            </a:pPr>
            <a:r>
              <a:rPr lang="en-US" sz="1500" b="1" dirty="0">
                <a:solidFill>
                  <a:schemeClr val="tx1"/>
                </a:solidFill>
              </a:rPr>
              <a:t>Pipeline runs</a:t>
            </a:r>
            <a:endParaRPr lang="en-US" sz="1500" dirty="0"/>
          </a:p>
        </p:txBody>
      </p:sp>
      <p:sp>
        <p:nvSpPr>
          <p:cNvPr id="17" name="Demo step 3 detail"/>
          <p:cNvSpPr txBox="1"/>
          <p:nvPr/>
        </p:nvSpPr>
        <p:spPr>
          <a:xfrm>
            <a:off x="3877056" y="3017520"/>
            <a:ext cx="1389888" cy="731520"/>
          </a:xfrm>
          <a:prstGeom prst="rect">
            <a:avLst/>
          </a:prstGeom>
          <a:noFill/>
          <a:ln/>
        </p:spPr>
        <p:txBody>
          <a:bodyPr wrap="square" lIns="0" tIns="0" rIns="0" bIns="0" rtlCol="0" anchor="t"/>
          <a:lstStyle/>
          <a:p>
            <a:pPr algn="ctr" indent="0" marL="0">
              <a:buNone/>
            </a:pPr>
            <a:r>
              <a:rPr lang="en-US" sz="1400" dirty="0">
                <a:solidFill>
                  <a:schemeClr val="accent4"/>
                </a:solidFill>
              </a:rPr>
              <a:t>tests, build, Trivy</a:t>
            </a:r>
            <a:endParaRPr lang="en-US" sz="1400" dirty="0"/>
          </a:p>
        </p:txBody>
      </p:sp>
      <p:sp>
        <p:nvSpPr>
          <p:cNvPr id="18" name="Demo step 4 badge"/>
          <p:cNvSpPr/>
          <p:nvPr/>
        </p:nvSpPr>
        <p:spPr>
          <a:xfrm>
            <a:off x="5939028" y="1508760"/>
            <a:ext cx="640080" cy="640080"/>
          </a:xfrm>
          <a:prstGeom prst="ellipse">
            <a:avLst/>
          </a:prstGeom>
          <a:solidFill>
            <a:schemeClr val="tx2"/>
          </a:solidFill>
          <a:ln/>
        </p:spPr>
      </p:sp>
      <p:sp>
        <p:nvSpPr>
          <p:cNvPr id="19" name="Demo step 4 number"/>
          <p:cNvSpPr txBox="1"/>
          <p:nvPr/>
        </p:nvSpPr>
        <p:spPr>
          <a:xfrm>
            <a:off x="5939028" y="150876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4</a:t>
            </a:r>
            <a:endParaRPr lang="en-US" sz="2400" dirty="0"/>
          </a:p>
        </p:txBody>
      </p:sp>
      <p:sp>
        <p:nvSpPr>
          <p:cNvPr id="20" name="Demo step 4 name"/>
          <p:cNvSpPr txBox="1"/>
          <p:nvPr/>
        </p:nvSpPr>
        <p:spPr>
          <a:xfrm>
            <a:off x="5518404" y="2377440"/>
            <a:ext cx="1481328" cy="594360"/>
          </a:xfrm>
          <a:prstGeom prst="rect">
            <a:avLst/>
          </a:prstGeom>
          <a:noFill/>
          <a:ln/>
        </p:spPr>
        <p:txBody>
          <a:bodyPr wrap="square" lIns="0" tIns="0" rIns="0" bIns="0" rtlCol="0" anchor="t"/>
          <a:lstStyle/>
          <a:p>
            <a:pPr algn="ctr" indent="0" marL="0">
              <a:buNone/>
            </a:pPr>
            <a:r>
              <a:rPr lang="en-US" sz="1500" b="1" dirty="0">
                <a:solidFill>
                  <a:schemeClr val="tx1"/>
                </a:solidFill>
              </a:rPr>
              <a:t>Image in GHCR</a:t>
            </a:r>
            <a:endParaRPr lang="en-US" sz="1500" dirty="0"/>
          </a:p>
        </p:txBody>
      </p:sp>
      <p:sp>
        <p:nvSpPr>
          <p:cNvPr id="21" name="Demo step 4 detail"/>
          <p:cNvSpPr txBox="1"/>
          <p:nvPr/>
        </p:nvSpPr>
        <p:spPr>
          <a:xfrm>
            <a:off x="5564124" y="3017520"/>
            <a:ext cx="1389888" cy="731520"/>
          </a:xfrm>
          <a:prstGeom prst="rect">
            <a:avLst/>
          </a:prstGeom>
          <a:noFill/>
          <a:ln/>
        </p:spPr>
        <p:txBody>
          <a:bodyPr wrap="square" lIns="0" tIns="0" rIns="0" bIns="0" rtlCol="0" anchor="t"/>
          <a:lstStyle/>
          <a:p>
            <a:pPr algn="ctr" indent="0" marL="0">
              <a:buNone/>
            </a:pPr>
            <a:r>
              <a:rPr lang="en-US" sz="1400" dirty="0">
                <a:solidFill>
                  <a:schemeClr val="accent4"/>
                </a:solidFill>
              </a:rPr>
              <a:t>tagged with the SHA</a:t>
            </a:r>
            <a:endParaRPr lang="en-US" sz="1400" dirty="0"/>
          </a:p>
        </p:txBody>
      </p:sp>
      <p:sp>
        <p:nvSpPr>
          <p:cNvPr id="22" name="Demo step 5 badge"/>
          <p:cNvSpPr/>
          <p:nvPr/>
        </p:nvSpPr>
        <p:spPr>
          <a:xfrm>
            <a:off x="7626096" y="1508760"/>
            <a:ext cx="640080" cy="640080"/>
          </a:xfrm>
          <a:prstGeom prst="ellipse">
            <a:avLst/>
          </a:prstGeom>
          <a:solidFill>
            <a:schemeClr val="accent1"/>
          </a:solidFill>
          <a:ln/>
        </p:spPr>
      </p:sp>
      <p:sp>
        <p:nvSpPr>
          <p:cNvPr id="23" name="Demo step 5 number"/>
          <p:cNvSpPr txBox="1"/>
          <p:nvPr/>
        </p:nvSpPr>
        <p:spPr>
          <a:xfrm>
            <a:off x="7626096" y="150876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5</a:t>
            </a:r>
            <a:endParaRPr lang="en-US" sz="2400" dirty="0"/>
          </a:p>
        </p:txBody>
      </p:sp>
      <p:sp>
        <p:nvSpPr>
          <p:cNvPr id="24" name="Demo step 5 name"/>
          <p:cNvSpPr txBox="1"/>
          <p:nvPr/>
        </p:nvSpPr>
        <p:spPr>
          <a:xfrm>
            <a:off x="7205472" y="2377440"/>
            <a:ext cx="1481328" cy="594360"/>
          </a:xfrm>
          <a:prstGeom prst="rect">
            <a:avLst/>
          </a:prstGeom>
          <a:noFill/>
          <a:ln/>
        </p:spPr>
        <p:txBody>
          <a:bodyPr wrap="square" lIns="0" tIns="0" rIns="0" bIns="0" rtlCol="0" anchor="t"/>
          <a:lstStyle/>
          <a:p>
            <a:pPr algn="ctr" indent="0" marL="0">
              <a:buNone/>
            </a:pPr>
            <a:r>
              <a:rPr lang="en-US" sz="1500" b="1" dirty="0">
                <a:solidFill>
                  <a:schemeClr val="tx1"/>
                </a:solidFill>
              </a:rPr>
              <a:t>Helm upgrade</a:t>
            </a:r>
            <a:endParaRPr lang="en-US" sz="1500" dirty="0"/>
          </a:p>
        </p:txBody>
      </p:sp>
      <p:sp>
        <p:nvSpPr>
          <p:cNvPr id="25" name="Demo step 5 detail"/>
          <p:cNvSpPr txBox="1"/>
          <p:nvPr/>
        </p:nvSpPr>
        <p:spPr>
          <a:xfrm>
            <a:off x="7251192" y="3017520"/>
            <a:ext cx="1389888" cy="731520"/>
          </a:xfrm>
          <a:prstGeom prst="rect">
            <a:avLst/>
          </a:prstGeom>
          <a:noFill/>
          <a:ln/>
        </p:spPr>
        <p:txBody>
          <a:bodyPr wrap="square" lIns="0" tIns="0" rIns="0" bIns="0" rtlCol="0" anchor="t"/>
          <a:lstStyle/>
          <a:p>
            <a:pPr algn="ctr" indent="0" marL="0">
              <a:buNone/>
            </a:pPr>
            <a:r>
              <a:rPr lang="en-US" sz="1400" dirty="0">
                <a:solidFill>
                  <a:schemeClr val="accent4"/>
                </a:solidFill>
              </a:rPr>
              <a:t>scripts/deploy.sh, then refresh</a:t>
            </a:r>
            <a:endParaRPr lang="en-US" sz="1400" dirty="0"/>
          </a:p>
        </p:txBody>
      </p:sp>
      <p:sp>
        <p:nvSpPr>
          <p:cNvPr id="26" name="Demo tagline"/>
          <p:cNvSpPr txBox="1"/>
          <p:nvPr/>
        </p:nvSpPr>
        <p:spPr>
          <a:xfrm>
            <a:off x="457200" y="4023360"/>
            <a:ext cx="8229600" cy="548640"/>
          </a:xfrm>
          <a:prstGeom prst="rect">
            <a:avLst/>
          </a:prstGeom>
          <a:noFill/>
          <a:ln/>
        </p:spPr>
        <p:txBody>
          <a:bodyPr wrap="square" lIns="0" tIns="0" rIns="0" bIns="0" rtlCol="0" anchor="t"/>
          <a:lstStyle/>
          <a:p>
            <a:pPr algn="ctr" indent="0" marL="0">
              <a:buNone/>
            </a:pPr>
            <a:r>
              <a:rPr lang="en-US" sz="1800" b="1" dirty="0">
                <a:solidFill>
                  <a:schemeClr val="accent1"/>
                </a:solidFill>
                <a:latin typeface="+mj-lt" pitchFamily="34" charset="0"/>
                <a:ea typeface="+mj-lt" pitchFamily="34" charset="-122"/>
                <a:cs typeface="+mj-lt" pitchFamily="34" charset="-120"/>
              </a:rPr>
              <a:t>Commit a change, watch the pipeline run, see the deployment update.</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6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731520"/>
          </a:xfrm>
          <a:prstGeom prst="rect">
            <a:avLst/>
          </a:prstGeom>
          <a:noFill/>
          <a:ln/>
        </p:spPr>
        <p:txBody>
          <a:bodyPr wrap="square" lIns="0" tIns="0" rIns="0" bIns="0" rtlCol="0" anchor="ctr"/>
          <a:lstStyle/>
          <a:p>
            <a:pPr algn="l" indent="0" marL="0">
              <a:buNone/>
            </a:pPr>
            <a:r>
              <a:rPr lang="en-US" sz="3400" b="1" dirty="0">
                <a:solidFill>
                  <a:schemeClr val="bg1"/>
                </a:solidFill>
              </a:rPr>
              <a:t>What I learned</a:t>
            </a:r>
            <a:endParaRPr lang="en-US" sz="3400" dirty="0"/>
          </a:p>
        </p:txBody>
      </p:sp>
      <p:sp>
        <p:nvSpPr>
          <p:cNvPr id="4" name="Lesson 1 badge"/>
          <p:cNvSpPr/>
          <p:nvPr/>
        </p:nvSpPr>
        <p:spPr>
          <a:xfrm>
            <a:off x="548640" y="1463040"/>
            <a:ext cx="502920" cy="502920"/>
          </a:xfrm>
          <a:prstGeom prst="ellipse">
            <a:avLst/>
          </a:prstGeom>
          <a:solidFill>
            <a:schemeClr val="accent2"/>
          </a:solidFill>
          <a:ln/>
        </p:spPr>
      </p:sp>
      <p:sp>
        <p:nvSpPr>
          <p:cNvPr id="5" name="Lesson 1 number"/>
          <p:cNvSpPr txBox="1"/>
          <p:nvPr/>
        </p:nvSpPr>
        <p:spPr>
          <a:xfrm>
            <a:off x="548640" y="1463040"/>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1</a:t>
            </a:r>
            <a:endParaRPr lang="en-US" sz="2000" dirty="0"/>
          </a:p>
        </p:txBody>
      </p:sp>
      <p:sp>
        <p:nvSpPr>
          <p:cNvPr id="6" name="Lesson 1 text"/>
          <p:cNvSpPr txBox="1"/>
          <p:nvPr/>
        </p:nvSpPr>
        <p:spPr>
          <a:xfrm>
            <a:off x="1280160" y="1417320"/>
            <a:ext cx="4206240" cy="731520"/>
          </a:xfrm>
          <a:prstGeom prst="rect">
            <a:avLst/>
          </a:prstGeom>
          <a:noFill/>
          <a:ln/>
        </p:spPr>
        <p:txBody>
          <a:bodyPr wrap="square" lIns="0" tIns="0" rIns="0" bIns="0" rtlCol="0" anchor="ctr"/>
          <a:lstStyle/>
          <a:p>
            <a:pPr indent="0" marL="0">
              <a:buNone/>
            </a:pPr>
            <a:r>
              <a:rPr lang="en-US" sz="1600" b="1" dirty="0">
                <a:solidFill>
                  <a:schemeClr val="bg1"/>
                </a:solidFill>
              </a:rPr>
              <a:t>A passing build is not a secure build.</a:t>
            </a:r>
            <a:pPr indent="0" marL="0">
              <a:buNone/>
            </a:pPr>
            <a:r>
              <a:rPr lang="en-US" sz="1600" dirty="0">
                <a:solidFill>
                  <a:schemeClr val="bg1"/>
                </a:solidFill>
              </a:rPr>
              <a:t> Trivy gates the push even when every test is green.</a:t>
            </a:r>
            <a:endParaRPr lang="en-US" sz="1600" dirty="0"/>
          </a:p>
        </p:txBody>
      </p:sp>
      <p:sp>
        <p:nvSpPr>
          <p:cNvPr id="7" name="Lesson 2 badge"/>
          <p:cNvSpPr/>
          <p:nvPr/>
        </p:nvSpPr>
        <p:spPr>
          <a:xfrm>
            <a:off x="548640" y="2331720"/>
            <a:ext cx="502920" cy="502920"/>
          </a:xfrm>
          <a:prstGeom prst="ellipse">
            <a:avLst/>
          </a:prstGeom>
          <a:solidFill>
            <a:schemeClr val="accent2"/>
          </a:solidFill>
          <a:ln/>
        </p:spPr>
      </p:sp>
      <p:sp>
        <p:nvSpPr>
          <p:cNvPr id="8" name="Lesson 2 number"/>
          <p:cNvSpPr txBox="1"/>
          <p:nvPr/>
        </p:nvSpPr>
        <p:spPr>
          <a:xfrm>
            <a:off x="548640" y="2331720"/>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2</a:t>
            </a:r>
            <a:endParaRPr lang="en-US" sz="2000" dirty="0"/>
          </a:p>
        </p:txBody>
      </p:sp>
      <p:sp>
        <p:nvSpPr>
          <p:cNvPr id="9" name="Lesson 2 text"/>
          <p:cNvSpPr txBox="1"/>
          <p:nvPr/>
        </p:nvSpPr>
        <p:spPr>
          <a:xfrm>
            <a:off x="1280160" y="2286000"/>
            <a:ext cx="4206240" cy="731520"/>
          </a:xfrm>
          <a:prstGeom prst="rect">
            <a:avLst/>
          </a:prstGeom>
          <a:noFill/>
          <a:ln/>
        </p:spPr>
        <p:txBody>
          <a:bodyPr wrap="square" lIns="0" tIns="0" rIns="0" bIns="0" rtlCol="0" anchor="ctr"/>
          <a:lstStyle/>
          <a:p>
            <a:pPr indent="0" marL="0">
              <a:buNone/>
            </a:pPr>
            <a:r>
              <a:rPr lang="en-US" sz="1600" b="1" dirty="0">
                <a:solidFill>
                  <a:schemeClr val="bg1"/>
                </a:solidFill>
              </a:rPr>
              <a:t>nginx resolves the backend once, at start.</a:t>
            </a:r>
            <a:pPr indent="0" marL="0">
              <a:buNone/>
            </a:pPr>
            <a:r>
              <a:rPr lang="en-US" sz="1600" dirty="0">
                <a:solidFill>
                  <a:schemeClr val="bg1"/>
                </a:solidFill>
              </a:rPr>
              <a:t> It needs the full Service DNS name to avoid a 502.</a:t>
            </a:r>
            <a:endParaRPr lang="en-US" sz="1600" dirty="0"/>
          </a:p>
        </p:txBody>
      </p:sp>
      <p:sp>
        <p:nvSpPr>
          <p:cNvPr id="10" name="Lesson 3 badge"/>
          <p:cNvSpPr/>
          <p:nvPr/>
        </p:nvSpPr>
        <p:spPr>
          <a:xfrm>
            <a:off x="548640" y="3200400"/>
            <a:ext cx="502920" cy="502920"/>
          </a:xfrm>
          <a:prstGeom prst="ellipse">
            <a:avLst/>
          </a:prstGeom>
          <a:solidFill>
            <a:schemeClr val="accent2"/>
          </a:solidFill>
          <a:ln/>
        </p:spPr>
      </p:sp>
      <p:sp>
        <p:nvSpPr>
          <p:cNvPr id="11" name="Lesson 3 number"/>
          <p:cNvSpPr txBox="1"/>
          <p:nvPr/>
        </p:nvSpPr>
        <p:spPr>
          <a:xfrm>
            <a:off x="548640" y="3200400"/>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3</a:t>
            </a:r>
            <a:endParaRPr lang="en-US" sz="2000" dirty="0"/>
          </a:p>
        </p:txBody>
      </p:sp>
      <p:sp>
        <p:nvSpPr>
          <p:cNvPr id="12" name="Lesson 3 text"/>
          <p:cNvSpPr txBox="1"/>
          <p:nvPr/>
        </p:nvSpPr>
        <p:spPr>
          <a:xfrm>
            <a:off x="1280160" y="3154680"/>
            <a:ext cx="4206240" cy="731520"/>
          </a:xfrm>
          <a:prstGeom prst="rect">
            <a:avLst/>
          </a:prstGeom>
          <a:noFill/>
          <a:ln/>
        </p:spPr>
        <p:txBody>
          <a:bodyPr wrap="square" lIns="0" tIns="0" rIns="0" bIns="0" rtlCol="0" anchor="ctr"/>
          <a:lstStyle/>
          <a:p>
            <a:pPr indent="0" marL="0">
              <a:buNone/>
            </a:pPr>
            <a:r>
              <a:rPr lang="en-US" sz="1600" b="1" dirty="0">
                <a:solidFill>
                  <a:schemeClr val="bg1"/>
                </a:solidFill>
              </a:rPr>
              <a:t>Running is not Ready.</a:t>
            </a:r>
            <a:pPr indent="0" marL="0">
              <a:buNone/>
            </a:pPr>
            <a:r>
              <a:rPr lang="en-US" sz="1600" dirty="0">
                <a:solidFill>
                  <a:schemeClr val="bg1"/>
                </a:solidFill>
              </a:rPr>
              <a:t> Backend pods wait for Postgres because /ready checks the database.</a:t>
            </a:r>
            <a:endParaRPr lang="en-US" sz="1600" dirty="0"/>
          </a:p>
        </p:txBody>
      </p:sp>
      <p:sp>
        <p:nvSpPr>
          <p:cNvPr id="13" name="Lesson 4 badge"/>
          <p:cNvSpPr/>
          <p:nvPr/>
        </p:nvSpPr>
        <p:spPr>
          <a:xfrm>
            <a:off x="548640" y="4069080"/>
            <a:ext cx="502920" cy="502920"/>
          </a:xfrm>
          <a:prstGeom prst="ellipse">
            <a:avLst/>
          </a:prstGeom>
          <a:solidFill>
            <a:schemeClr val="accent2"/>
          </a:solidFill>
          <a:ln/>
        </p:spPr>
      </p:sp>
      <p:sp>
        <p:nvSpPr>
          <p:cNvPr id="14" name="Lesson 4 number"/>
          <p:cNvSpPr txBox="1"/>
          <p:nvPr/>
        </p:nvSpPr>
        <p:spPr>
          <a:xfrm>
            <a:off x="548640" y="4069080"/>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4</a:t>
            </a:r>
            <a:endParaRPr lang="en-US" sz="2000" dirty="0"/>
          </a:p>
        </p:txBody>
      </p:sp>
      <p:sp>
        <p:nvSpPr>
          <p:cNvPr id="15" name="Lesson 4 text"/>
          <p:cNvSpPr txBox="1"/>
          <p:nvPr/>
        </p:nvSpPr>
        <p:spPr>
          <a:xfrm>
            <a:off x="1280160" y="4023360"/>
            <a:ext cx="4206240" cy="731520"/>
          </a:xfrm>
          <a:prstGeom prst="rect">
            <a:avLst/>
          </a:prstGeom>
          <a:noFill/>
          <a:ln/>
        </p:spPr>
        <p:txBody>
          <a:bodyPr wrap="square" lIns="0" tIns="0" rIns="0" bIns="0" rtlCol="0" anchor="ctr"/>
          <a:lstStyle/>
          <a:p>
            <a:pPr indent="0" marL="0">
              <a:buNone/>
            </a:pPr>
            <a:r>
              <a:rPr lang="en-US" sz="1600" b="1" dirty="0">
                <a:solidFill>
                  <a:schemeClr val="bg1"/>
                </a:solidFill>
              </a:rPr>
              <a:t>Secrets are generated, never committed.</a:t>
            </a:r>
            <a:pPr indent="0" marL="0">
              <a:buNone/>
            </a:pPr>
            <a:r>
              <a:rPr lang="en-US" sz="1600" dirty="0">
                <a:solidFill>
                  <a:schemeClr val="bg1"/>
                </a:solidFill>
              </a:rPr>
              <a:t> The Postgres password Secret survives helm uninstall.</a:t>
            </a:r>
            <a:endParaRPr lang="en-US" sz="1600" dirty="0"/>
          </a:p>
        </p:txBody>
      </p:sp>
      <p:sp>
        <p:nvSpPr>
          <p:cNvPr id="16" name="Thank you"/>
          <p:cNvSpPr txBox="1"/>
          <p:nvPr/>
        </p:nvSpPr>
        <p:spPr>
          <a:xfrm>
            <a:off x="5760720" y="1737360"/>
            <a:ext cx="3017520" cy="914400"/>
          </a:xfrm>
          <a:prstGeom prst="rect">
            <a:avLst/>
          </a:prstGeom>
          <a:noFill/>
          <a:ln/>
        </p:spPr>
        <p:txBody>
          <a:bodyPr wrap="square" lIns="0" tIns="0" rIns="0" bIns="0" rtlCol="0" anchor="ctr"/>
          <a:lstStyle/>
          <a:p>
            <a:pPr indent="0" marL="0">
              <a:buNone/>
            </a:pPr>
            <a:r>
              <a:rPr lang="en-US" sz="3400" b="1" dirty="0">
                <a:solidFill>
                  <a:schemeClr val="bg1"/>
                </a:solidFill>
                <a:latin typeface="+mj-lt" pitchFamily="34" charset="0"/>
                <a:ea typeface="+mj-lt" pitchFamily="34" charset="-122"/>
                <a:cs typeface="+mj-lt" pitchFamily="34" charset="-120"/>
              </a:rPr>
              <a:t>Thank you</a:t>
            </a:r>
            <a:endParaRPr lang="en-US" sz="3400" dirty="0"/>
          </a:p>
        </p:txBody>
      </p:sp>
      <p:sp>
        <p:nvSpPr>
          <p:cNvPr id="17" name="Project name"/>
          <p:cNvSpPr txBox="1"/>
          <p:nvPr/>
        </p:nvSpPr>
        <p:spPr>
          <a:xfrm>
            <a:off x="5760720" y="2697480"/>
            <a:ext cx="2926080" cy="365760"/>
          </a:xfrm>
          <a:prstGeom prst="rect">
            <a:avLst/>
          </a:prstGeom>
          <a:noFill/>
          <a:ln/>
        </p:spPr>
        <p:txBody>
          <a:bodyPr wrap="square" lIns="0" tIns="0" rIns="0" bIns="0" rtlCol="0" anchor="t"/>
          <a:lstStyle/>
          <a:p>
            <a:pPr indent="0" marL="0">
              <a:buNone/>
            </a:pPr>
            <a:r>
              <a:rPr lang="en-US" sz="1800" b="1" dirty="0">
                <a:solidFill>
                  <a:schemeClr val="accent2"/>
                </a:solidFill>
              </a:rPr>
              <a:t>BugTrack</a:t>
            </a:r>
            <a:endParaRPr lang="en-US" sz="1800" dirty="0"/>
          </a:p>
        </p:txBody>
      </p:sp>
      <p:sp>
        <p:nvSpPr>
          <p:cNvPr id="18" name="Repo link"/>
          <p:cNvSpPr txBox="1"/>
          <p:nvPr/>
        </p:nvSpPr>
        <p:spPr>
          <a:xfrm>
            <a:off x="5760720" y="3108960"/>
            <a:ext cx="2926080" cy="548640"/>
          </a:xfrm>
          <a:prstGeom prst="rect">
            <a:avLst/>
          </a:prstGeom>
          <a:noFill/>
          <a:ln/>
        </p:spPr>
        <p:txBody>
          <a:bodyPr wrap="square" lIns="0" tIns="0" rIns="0" bIns="0" rtlCol="0" anchor="t"/>
          <a:lstStyle/>
          <a:p>
            <a:pPr indent="0" marL="0">
              <a:buNone/>
            </a:pPr>
            <a:r>
              <a:rPr lang="en-US" sz="1400" dirty="0">
                <a:solidFill>
                  <a:srgbClr val="A9C2B3"/>
                </a:solidFill>
              </a:rPr>
              <a:t>github.com/Pratham-Onkar-Singh/BugTrack</a:t>
            </a:r>
            <a:endParaRPr lang="en-US" sz="1400" dirty="0"/>
          </a:p>
        </p:txBody>
      </p:sp>
    </p:spTree>
  </p:cSld>
  <p:clrMapOvr>
    <a:masterClrMapping/>
  </p:clrMapOvr>
</p:sld>
</file>

<file path=ppt/theme/theme1.xml><?xml version="1.0" encoding="utf-8"?>
<a:theme xmlns:a="http://schemas.openxmlformats.org/drawingml/2006/main" name="BugTrack">
  <a:themeElements>
    <a:clrScheme name="BugTrack">
      <a:dk1>
        <a:srgbClr val="18201C"/>
      </a:dk1>
      <a:lt1>
        <a:srgbClr val="FFFFFF"/>
      </a:lt1>
      <a:dk2>
        <a:srgbClr val="23392F"/>
      </a:dk2>
      <a:lt2>
        <a:srgbClr val="ECEFEA"/>
      </a:lt2>
      <a:accent1>
        <a:srgbClr val="C4532F"/>
      </a:accent1>
      <a:accent2>
        <a:srgbClr val="C99A3D"/>
      </a:accent2>
      <a:accent3>
        <a:srgbClr val="3F7A62"/>
      </a:accent3>
      <a:accent4>
        <a:srgbClr val="5C6B64"/>
      </a:accent4>
      <a:accent5>
        <a:srgbClr val="8A3A25"/>
      </a:accent5>
      <a:accent6>
        <a:srgbClr val="A9C2B3"/>
      </a:accent6>
      <a:hlink>
        <a:srgbClr val="C4532F"/>
      </a:hlink>
      <a:folHlink>
        <a:srgbClr val="5C6B64"/>
      </a:folHlink>
    </a:clrScheme>
    <a:fontScheme name="BugTra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BugTrack: DevOps Capstone</dc:title>
  <dc:subject>DevOps final capstone</dc:subject>
  <dc:creator>Pratham Onkar Singh</dc:creator>
  <cp:lastModifiedBy>Pratham Onkar Singh</cp:lastModifiedBy>
  <cp:revision>1</cp:revision>
  <dcterms:created xsi:type="dcterms:W3CDTF">2026-10-16T18:41:13Z</dcterms:created>
  <dcterms:modified xsi:type="dcterms:W3CDTF">2026-10-16T18:41:13Z</dcterms:modified>
</cp:coreProperties>
</file>